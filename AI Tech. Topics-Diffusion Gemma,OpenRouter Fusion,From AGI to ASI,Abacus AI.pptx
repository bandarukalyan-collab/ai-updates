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dacc88c98478e" /><Relationship Type="http://schemas.openxmlformats.org/officeDocument/2006/relationships/extended-properties" Target="/docProps/app.xml" Id="R11b92efee4384c4e" /><Relationship Type="http://schemas.openxmlformats.org/officeDocument/2006/relationships/officeDocument" Target="/ppt/presentation.xml" Id="Rb4f2330e39ed44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e767a4807e4ba0"/>
  </p:sldMasterIdLst>
  <p:notesMasterIdLst>
    <p:notesMasterId xmlns:r="http://schemas.openxmlformats.org/officeDocument/2006/relationships" r:id="R3d760cbad4244a4a"/>
  </p:notesMasterIdLst>
  <p:sldIdLst>
    <p:sldId xmlns:r="http://schemas.openxmlformats.org/officeDocument/2006/relationships" id="256" r:id="R0128c5c659154706"/>
    <p:sldId xmlns:r="http://schemas.openxmlformats.org/officeDocument/2006/relationships" id="257" r:id="Rac09ef8563da43a9"/>
    <p:sldId xmlns:r="http://schemas.openxmlformats.org/officeDocument/2006/relationships" id="258" r:id="R611d263d718d430e"/>
    <p:sldId xmlns:r="http://schemas.openxmlformats.org/officeDocument/2006/relationships" id="259" r:id="R2711862637394454"/>
    <p:sldId xmlns:r="http://schemas.openxmlformats.org/officeDocument/2006/relationships" id="260" r:id="R11f1c4feb5ed4071"/>
    <p:sldId xmlns:r="http://schemas.openxmlformats.org/officeDocument/2006/relationships" id="261" r:id="Reedc8be946a04d1e"/>
    <p:sldId xmlns:r="http://schemas.openxmlformats.org/officeDocument/2006/relationships" id="262" r:id="R3b2ec3af91594fb4"/>
    <p:sldId xmlns:r="http://schemas.openxmlformats.org/officeDocument/2006/relationships" id="263" r:id="Ra7df8e2ac39f4a29"/>
    <p:sldId xmlns:r="http://schemas.openxmlformats.org/officeDocument/2006/relationships" id="264" r:id="Rbdde7f9a984d4457"/>
    <p:sldId xmlns:r="http://schemas.openxmlformats.org/officeDocument/2006/relationships" id="265" r:id="R339aeb6fff56440d"/>
    <p:sldId xmlns:r="http://schemas.openxmlformats.org/officeDocument/2006/relationships" id="266" r:id="R18afe6ae291b4bcb"/>
    <p:sldId xmlns:r="http://schemas.openxmlformats.org/officeDocument/2006/relationships" id="267" r:id="R1369d87313244ee3"/>
    <p:sldId xmlns:r="http://schemas.openxmlformats.org/officeDocument/2006/relationships" id="268" r:id="Rc50d34365fd7444b"/>
    <p:sldId xmlns:r="http://schemas.openxmlformats.org/officeDocument/2006/relationships" id="269" r:id="R72b7bed5ec6946c4"/>
    <p:sldId xmlns:r="http://schemas.openxmlformats.org/officeDocument/2006/relationships" id="270" r:id="R2325980960984dad"/>
    <p:sldId xmlns:r="http://schemas.openxmlformats.org/officeDocument/2006/relationships" id="271" r:id="Rfb26f372fccb4fe6"/>
    <p:sldId xmlns:r="http://schemas.openxmlformats.org/officeDocument/2006/relationships" id="272" r:id="R4de295d5810944b3"/>
    <p:sldId xmlns:r="http://schemas.openxmlformats.org/officeDocument/2006/relationships" id="273" r:id="R70754aaac1b94ebf"/>
    <p:sldId xmlns:r="http://schemas.openxmlformats.org/officeDocument/2006/relationships" id="274" r:id="Rb950371c975e44de"/>
    <p:sldId xmlns:r="http://schemas.openxmlformats.org/officeDocument/2006/relationships" id="275" r:id="R830e0a999d744f01"/>
    <p:sldId xmlns:r="http://schemas.openxmlformats.org/officeDocument/2006/relationships" id="276" r:id="R0ab676ffde8e49a5"/>
    <p:sldId xmlns:r="http://schemas.openxmlformats.org/officeDocument/2006/relationships" id="277" r:id="Ref3d6be633fe4753"/>
    <p:sldId xmlns:r="http://schemas.openxmlformats.org/officeDocument/2006/relationships" id="278" r:id="R836df8531b874ca0"/>
    <p:sldId xmlns:r="http://schemas.openxmlformats.org/officeDocument/2006/relationships" id="279" r:id="R6b720fe5ce2f482a"/>
    <p:sldId xmlns:r="http://schemas.openxmlformats.org/officeDocument/2006/relationships" id="280" r:id="R8670aa753f1049e4"/>
    <p:sldId xmlns:r="http://schemas.openxmlformats.org/officeDocument/2006/relationships" id="281" r:id="R781e6ca7739c43ab"/>
    <p:sldId xmlns:r="http://schemas.openxmlformats.org/officeDocument/2006/relationships" id="282" r:id="R220088dab6764a2a"/>
    <p:sldId xmlns:r="http://schemas.openxmlformats.org/officeDocument/2006/relationships" id="283" r:id="R9a47ba90f962435d"/>
    <p:sldId xmlns:r="http://schemas.openxmlformats.org/officeDocument/2006/relationships" id="284" r:id="R8d7bc16f0d3c4d62"/>
    <p:sldId xmlns:r="http://schemas.openxmlformats.org/officeDocument/2006/relationships" id="285" r:id="Rc9073821b5ae47df"/>
    <p:sldId xmlns:r="http://schemas.openxmlformats.org/officeDocument/2006/relationships" id="286" r:id="R7e6a225cf09446f2"/>
    <p:sldId xmlns:r="http://schemas.openxmlformats.org/officeDocument/2006/relationships" id="287" r:id="Rac63093994714ec1"/>
    <p:sldId xmlns:r="http://schemas.openxmlformats.org/officeDocument/2006/relationships" id="288" r:id="R811f12e526d34b4a"/>
    <p:sldId xmlns:r="http://schemas.openxmlformats.org/officeDocument/2006/relationships" id="289" r:id="Ra935d609082742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d108d6a2c5433e" /><Relationship Type="http://schemas.openxmlformats.org/officeDocument/2006/relationships/slideMaster" Target="/ppt/slideMasters/slideMaster1.xml" Id="R7ce767a4807e4ba0" /><Relationship Type="http://schemas.openxmlformats.org/officeDocument/2006/relationships/notesMaster" Target="/ppt/notesMasters/notesMaster1.xml" Id="R3d760cbad4244a4a" /><Relationship Type="http://schemas.openxmlformats.org/officeDocument/2006/relationships/presProps" Target="/ppt/presProps.xml" Id="R08692491adeb4eb7" /><Relationship Type="http://schemas.openxmlformats.org/officeDocument/2006/relationships/tableStyles" Target="/ppt/tableStyles.xml" Id="Rbfeba9ebc3ee4a15" /><Relationship Type="http://schemas.openxmlformats.org/officeDocument/2006/relationships/slide" Target="/ppt/slides/slide1.xml" Id="R0128c5c659154706" /><Relationship Type="http://schemas.openxmlformats.org/officeDocument/2006/relationships/slide" Target="/ppt/slides/slide2.xml" Id="Rac09ef8563da43a9" /><Relationship Type="http://schemas.openxmlformats.org/officeDocument/2006/relationships/slide" Target="/ppt/slides/slide3.xml" Id="R611d263d718d430e" /><Relationship Type="http://schemas.openxmlformats.org/officeDocument/2006/relationships/slide" Target="/ppt/slides/slide4.xml" Id="R2711862637394454" /><Relationship Type="http://schemas.openxmlformats.org/officeDocument/2006/relationships/slide" Target="/ppt/slides/slide5.xml" Id="R11f1c4feb5ed4071" /><Relationship Type="http://schemas.openxmlformats.org/officeDocument/2006/relationships/slide" Target="/ppt/slides/slide6.xml" Id="Reedc8be946a04d1e" /><Relationship Type="http://schemas.openxmlformats.org/officeDocument/2006/relationships/slide" Target="/ppt/slides/slide7.xml" Id="R3b2ec3af91594fb4" /><Relationship Type="http://schemas.openxmlformats.org/officeDocument/2006/relationships/slide" Target="/ppt/slides/slide8.xml" Id="Ra7df8e2ac39f4a29" /><Relationship Type="http://schemas.openxmlformats.org/officeDocument/2006/relationships/slide" Target="/ppt/slides/slide9.xml" Id="Rbdde7f9a984d4457" /><Relationship Type="http://schemas.openxmlformats.org/officeDocument/2006/relationships/slide" Target="/ppt/slides/slide10.xml" Id="R339aeb6fff56440d" /><Relationship Type="http://schemas.openxmlformats.org/officeDocument/2006/relationships/slide" Target="/ppt/slides/slide11.xml" Id="R18afe6ae291b4bcb" /><Relationship Type="http://schemas.openxmlformats.org/officeDocument/2006/relationships/slide" Target="/ppt/slides/slide12.xml" Id="R1369d87313244ee3" /><Relationship Type="http://schemas.openxmlformats.org/officeDocument/2006/relationships/slide" Target="/ppt/slides/slide13.xml" Id="Rc50d34365fd7444b" /><Relationship Type="http://schemas.openxmlformats.org/officeDocument/2006/relationships/slide" Target="/ppt/slides/slide14.xml" Id="R72b7bed5ec6946c4" /><Relationship Type="http://schemas.openxmlformats.org/officeDocument/2006/relationships/slide" Target="/ppt/slides/slide15.xml" Id="R2325980960984dad" /><Relationship Type="http://schemas.openxmlformats.org/officeDocument/2006/relationships/slide" Target="/ppt/slides/slide16.xml" Id="Rfb26f372fccb4fe6" /><Relationship Type="http://schemas.openxmlformats.org/officeDocument/2006/relationships/slide" Target="/ppt/slides/slide17.xml" Id="R4de295d5810944b3" /><Relationship Type="http://schemas.openxmlformats.org/officeDocument/2006/relationships/slide" Target="/ppt/slides/slide18.xml" Id="R70754aaac1b94ebf" /><Relationship Type="http://schemas.openxmlformats.org/officeDocument/2006/relationships/slide" Target="/ppt/slides/slide19.xml" Id="Rb950371c975e44de" /><Relationship Type="http://schemas.openxmlformats.org/officeDocument/2006/relationships/slide" Target="/ppt/slides/slide20.xml" Id="R830e0a999d744f01" /><Relationship Type="http://schemas.openxmlformats.org/officeDocument/2006/relationships/slide" Target="/ppt/slides/slide21.xml" Id="R0ab676ffde8e49a5" /><Relationship Type="http://schemas.openxmlformats.org/officeDocument/2006/relationships/slide" Target="/ppt/slides/slide22.xml" Id="Ref3d6be633fe4753" /><Relationship Type="http://schemas.openxmlformats.org/officeDocument/2006/relationships/slide" Target="/ppt/slides/slide23.xml" Id="R836df8531b874ca0" /><Relationship Type="http://schemas.openxmlformats.org/officeDocument/2006/relationships/slide" Target="/ppt/slides/slide24.xml" Id="R6b720fe5ce2f482a" /><Relationship Type="http://schemas.openxmlformats.org/officeDocument/2006/relationships/slide" Target="/ppt/slides/slide25.xml" Id="R8670aa753f1049e4" /><Relationship Type="http://schemas.openxmlformats.org/officeDocument/2006/relationships/slide" Target="/ppt/slides/slide26.xml" Id="R781e6ca7739c43ab" /><Relationship Type="http://schemas.openxmlformats.org/officeDocument/2006/relationships/slide" Target="/ppt/slides/slide27.xml" Id="R220088dab6764a2a" /><Relationship Type="http://schemas.openxmlformats.org/officeDocument/2006/relationships/slide" Target="/ppt/slides/slide28.xml" Id="R9a47ba90f962435d" /><Relationship Type="http://schemas.openxmlformats.org/officeDocument/2006/relationships/slide" Target="/ppt/slides/slide29.xml" Id="R8d7bc16f0d3c4d62" /><Relationship Type="http://schemas.openxmlformats.org/officeDocument/2006/relationships/slide" Target="/ppt/slides/slide30.xml" Id="Rc9073821b5ae47df" /><Relationship Type="http://schemas.openxmlformats.org/officeDocument/2006/relationships/slide" Target="/ppt/slides/slide31.xml" Id="R7e6a225cf09446f2" /><Relationship Type="http://schemas.openxmlformats.org/officeDocument/2006/relationships/slide" Target="/ppt/slides/slide32.xml" Id="Rac63093994714ec1" /><Relationship Type="http://schemas.openxmlformats.org/officeDocument/2006/relationships/slide" Target="/ppt/slides/slide33.xml" Id="R811f12e526d34b4a" /><Relationship Type="http://schemas.openxmlformats.org/officeDocument/2006/relationships/slide" Target="/ppt/slides/slide34.xml" Id="Ra935d609082742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7fbb27111347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2cd873422a4d59" /><Relationship Type="http://schemas.openxmlformats.org/officeDocument/2006/relationships/notesMaster" Target="/ppt/notesMasters/notesMaster1.xml" Id="Rf67e8321dd5a41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3208131d154d12" /><Relationship Type="http://schemas.openxmlformats.org/officeDocument/2006/relationships/notesMaster" Target="/ppt/notesMasters/notesMaster1.xml" Id="Rb5e79e3f5cc249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7dac57bdc74b08" /><Relationship Type="http://schemas.openxmlformats.org/officeDocument/2006/relationships/notesMaster" Target="/ppt/notesMasters/notesMaster1.xml" Id="R2c358d2a3932463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a3577e71684619" /><Relationship Type="http://schemas.openxmlformats.org/officeDocument/2006/relationships/notesMaster" Target="/ppt/notesMasters/notesMaster1.xml" Id="R11c1c510622c48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0dff9ca1004290" /><Relationship Type="http://schemas.openxmlformats.org/officeDocument/2006/relationships/notesMaster" Target="/ppt/notesMasters/notesMaster1.xml" Id="R953ea832f72542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ed6c69f979412d" /><Relationship Type="http://schemas.openxmlformats.org/officeDocument/2006/relationships/notesMaster" Target="/ppt/notesMasters/notesMaster1.xml" Id="R3947697ebc6641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a9d4044d034d7a" /><Relationship Type="http://schemas.openxmlformats.org/officeDocument/2006/relationships/notesMaster" Target="/ppt/notesMasters/notesMaster1.xml" Id="R93c0af3ff31e42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8e366d5e904a56" /><Relationship Type="http://schemas.openxmlformats.org/officeDocument/2006/relationships/notesMaster" Target="/ppt/notesMasters/notesMaster1.xml" Id="R49f2247c9e9444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043c00957f40c9" /><Relationship Type="http://schemas.openxmlformats.org/officeDocument/2006/relationships/notesMaster" Target="/ppt/notesMasters/notesMaster1.xml" Id="Rd30cdb3a654846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d3ce8e601c4145" /><Relationship Type="http://schemas.openxmlformats.org/officeDocument/2006/relationships/notesMaster" Target="/ppt/notesMasters/notesMaster1.xml" Id="R2c1ee97cf1a843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fae3b321f64579" /><Relationship Type="http://schemas.openxmlformats.org/officeDocument/2006/relationships/notesMaster" Target="/ppt/notesMasters/notesMaster1.xml" Id="R5a369a25e7bd40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1498ee0d5646e8" /><Relationship Type="http://schemas.openxmlformats.org/officeDocument/2006/relationships/notesMaster" Target="/ppt/notesMasters/notesMaster1.xml" Id="R9b85794f971a40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526885f3734681" /><Relationship Type="http://schemas.openxmlformats.org/officeDocument/2006/relationships/notesMaster" Target="/ppt/notesMasters/notesMaster1.xml" Id="R2582aa0316dc49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bd8a63895a4b08" /><Relationship Type="http://schemas.openxmlformats.org/officeDocument/2006/relationships/notesMaster" Target="/ppt/notesMasters/notesMaster1.xml" Id="Rc811f1a6858840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892041f2e44414a" /><Relationship Type="http://schemas.openxmlformats.org/officeDocument/2006/relationships/notesMaster" Target="/ppt/notesMasters/notesMaster1.xml" Id="R23a03d42ee6841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3c2b570e5c40d7" /><Relationship Type="http://schemas.openxmlformats.org/officeDocument/2006/relationships/notesMaster" Target="/ppt/notesMasters/notesMaster1.xml" Id="R56d94399591c4a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f85f12c88d4f78" /><Relationship Type="http://schemas.openxmlformats.org/officeDocument/2006/relationships/notesMaster" Target="/ppt/notesMasters/notesMaster1.xml" Id="R2dfb74d0961248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2c2b46fb054237" /><Relationship Type="http://schemas.openxmlformats.org/officeDocument/2006/relationships/notesMaster" Target="/ppt/notesMasters/notesMaster1.xml" Id="R07b2b5b9feff471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233f2f558674268" /><Relationship Type="http://schemas.openxmlformats.org/officeDocument/2006/relationships/notesMaster" Target="/ppt/notesMasters/notesMaster1.xml" Id="R725f5ab3af5347d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fe63c15b1e470e" /><Relationship Type="http://schemas.openxmlformats.org/officeDocument/2006/relationships/notesMaster" Target="/ppt/notesMasters/notesMaster1.xml" Id="R6061b5febfd349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ba0360ff594883" /><Relationship Type="http://schemas.openxmlformats.org/officeDocument/2006/relationships/notesMaster" Target="/ppt/notesMasters/notesMaster1.xml" Id="R26844bea7e0f4d5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67b879c8c44bf7" /><Relationship Type="http://schemas.openxmlformats.org/officeDocument/2006/relationships/notesMaster" Target="/ppt/notesMasters/notesMaster1.xml" Id="R906b8f5ef12f456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f90567e158844cc" /><Relationship Type="http://schemas.openxmlformats.org/officeDocument/2006/relationships/notesMaster" Target="/ppt/notesMasters/notesMaster1.xml" Id="R755bb9c817e146f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8052a43b3944824" /><Relationship Type="http://schemas.openxmlformats.org/officeDocument/2006/relationships/notesMaster" Target="/ppt/notesMasters/notesMaster1.xml" Id="R3f7a2c671d294e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fb36726d73041f2" /><Relationship Type="http://schemas.openxmlformats.org/officeDocument/2006/relationships/notesMaster" Target="/ppt/notesMasters/notesMaster1.xml" Id="R5696d4aea9144da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43f01f812f42a2" /><Relationship Type="http://schemas.openxmlformats.org/officeDocument/2006/relationships/notesMaster" Target="/ppt/notesMasters/notesMaster1.xml" Id="Rc243d82f1f6f48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09b6556c934eb9" /><Relationship Type="http://schemas.openxmlformats.org/officeDocument/2006/relationships/notesMaster" Target="/ppt/notesMasters/notesMaster1.xml" Id="R31c5bb6eebbf491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04b63bc9eff43b3" /><Relationship Type="http://schemas.openxmlformats.org/officeDocument/2006/relationships/notesMaster" Target="/ppt/notesMasters/notesMaster1.xml" Id="Rf2a5e4b60fe742b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62db75f3ba74cd2" /><Relationship Type="http://schemas.openxmlformats.org/officeDocument/2006/relationships/notesMaster" Target="/ppt/notesMasters/notesMaster1.xml" Id="R95d597e219774d0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4a16e3d308b490a" /><Relationship Type="http://schemas.openxmlformats.org/officeDocument/2006/relationships/notesMaster" Target="/ppt/notesMasters/notesMaster1.xml" Id="Ra6fbd0a51277487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f2ded4837ed4055" /><Relationship Type="http://schemas.openxmlformats.org/officeDocument/2006/relationships/notesMaster" Target="/ppt/notesMasters/notesMaster1.xml" Id="Rf08997842cff4aa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04360a68052456d" /><Relationship Type="http://schemas.openxmlformats.org/officeDocument/2006/relationships/notesMaster" Target="/ppt/notesMasters/notesMaster1.xml" Id="Rcafe9caf4ad04f5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56af7ec2ef84657" /><Relationship Type="http://schemas.openxmlformats.org/officeDocument/2006/relationships/notesMaster" Target="/ppt/notesMasters/notesMaster1.xml" Id="Ra4c6ab576e934ce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691b59e1ed5402c" /><Relationship Type="http://schemas.openxmlformats.org/officeDocument/2006/relationships/notesMaster" Target="/ppt/notesMasters/notesMaster1.xml" Id="Rb95a6059bb6c46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d0d39fe02845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44a1474bf04b0f" /><Relationship Type="http://schemas.openxmlformats.org/officeDocument/2006/relationships/slideLayout" Target="/ppt/slideLayouts/slideLayout1.xml" Id="Rcd7d313169f04c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d313169f04c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045ff1a054fcb" /><Relationship Type="http://schemas.openxmlformats.org/officeDocument/2006/relationships/notesSlide" Target="/ppt/notesSlides/notesSlide1.xml" Id="R213b67719e78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6fa414dd74b6a" /><Relationship Type="http://schemas.openxmlformats.org/officeDocument/2006/relationships/notesSlide" Target="/ppt/notesSlides/notesSlide2.xml" Id="Rcdba35fda85648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c02ef0d864831" /><Relationship Type="http://schemas.openxmlformats.org/officeDocument/2006/relationships/notesSlide" Target="/ppt/notesSlides/notesSlide3.xml" Id="Re4575f902dfd44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4cbbc69b74569" /><Relationship Type="http://schemas.openxmlformats.org/officeDocument/2006/relationships/notesSlide" Target="/ppt/notesSlides/notesSlide4.xml" Id="R8d18d57774984c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59289738d46fd" /><Relationship Type="http://schemas.openxmlformats.org/officeDocument/2006/relationships/notesSlide" Target="/ppt/notesSlides/notesSlide5.xml" Id="R711afd1c37ec4e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1e6e1cf0b4f4a" /><Relationship Type="http://schemas.openxmlformats.org/officeDocument/2006/relationships/notesSlide" Target="/ppt/notesSlides/notesSlide6.xml" Id="Reed904f55fc146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ea0f3edbe4b33" /><Relationship Type="http://schemas.openxmlformats.org/officeDocument/2006/relationships/notesSlide" Target="/ppt/notesSlides/notesSlide7.xml" Id="R340e501bdf7149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378a2b7e448e0" /><Relationship Type="http://schemas.openxmlformats.org/officeDocument/2006/relationships/notesSlide" Target="/ppt/notesSlides/notesSlide8.xml" Id="Rf3f3c65eef5847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ae2528dba4eb2" /><Relationship Type="http://schemas.openxmlformats.org/officeDocument/2006/relationships/notesSlide" Target="/ppt/notesSlides/notesSlide9.xml" Id="Reca57116b09348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1e88cda5644f7" /><Relationship Type="http://schemas.openxmlformats.org/officeDocument/2006/relationships/notesSlide" Target="/ppt/notesSlides/notesSlide10.xml" Id="Rddebaaa0c38146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1d537e4204370" /><Relationship Type="http://schemas.openxmlformats.org/officeDocument/2006/relationships/notesSlide" Target="/ppt/notesSlides/notesSlide11.xml" Id="Rc99aa1e6076f46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c5c2d2dfb476f" /><Relationship Type="http://schemas.openxmlformats.org/officeDocument/2006/relationships/notesSlide" Target="/ppt/notesSlides/notesSlide12.xml" Id="R493476b99f3044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1d0d906674b26" /><Relationship Type="http://schemas.openxmlformats.org/officeDocument/2006/relationships/notesSlide" Target="/ppt/notesSlides/notesSlide13.xml" Id="R992fcad076de43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ef4f8e2024e54" /><Relationship Type="http://schemas.openxmlformats.org/officeDocument/2006/relationships/notesSlide" Target="/ppt/notesSlides/notesSlide14.xml" Id="R9517e2a1ff6443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c38e7bd9e42ec" /><Relationship Type="http://schemas.openxmlformats.org/officeDocument/2006/relationships/notesSlide" Target="/ppt/notesSlides/notesSlide15.xml" Id="R2b411df5159c4d7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af53669f2403e" /><Relationship Type="http://schemas.openxmlformats.org/officeDocument/2006/relationships/notesSlide" Target="/ppt/notesSlides/notesSlide16.xml" Id="Rf0b11227d9564d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a24dcdd824989" /><Relationship Type="http://schemas.openxmlformats.org/officeDocument/2006/relationships/notesSlide" Target="/ppt/notesSlides/notesSlide17.xml" Id="Re8abf9034a484d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aba107f764d9f" /><Relationship Type="http://schemas.openxmlformats.org/officeDocument/2006/relationships/notesSlide" Target="/ppt/notesSlides/notesSlide18.xml" Id="R5984c3bc37614e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e701137ab4d9f" /><Relationship Type="http://schemas.openxmlformats.org/officeDocument/2006/relationships/notesSlide" Target="/ppt/notesSlides/notesSlide19.xml" Id="R9b52f6493b23449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60b4d5baf4e92" /><Relationship Type="http://schemas.openxmlformats.org/officeDocument/2006/relationships/notesSlide" Target="/ppt/notesSlides/notesSlide20.xml" Id="Refdc4e738aee40e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be4478378b426d" /><Relationship Type="http://schemas.openxmlformats.org/officeDocument/2006/relationships/notesSlide" Target="/ppt/notesSlides/notesSlide21.xml" Id="R26368c12368f46f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d124833b44dc3" /><Relationship Type="http://schemas.openxmlformats.org/officeDocument/2006/relationships/notesSlide" Target="/ppt/notesSlides/notesSlide22.xml" Id="R9aca103857304ff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fd0e5071d142df" /><Relationship Type="http://schemas.openxmlformats.org/officeDocument/2006/relationships/notesSlide" Target="/ppt/notesSlides/notesSlide23.xml" Id="R41a6649df3214b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9617c88004fb4" /><Relationship Type="http://schemas.openxmlformats.org/officeDocument/2006/relationships/notesSlide" Target="/ppt/notesSlides/notesSlide24.xml" Id="Rcba31a9d507942a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218cd82d548d8" /><Relationship Type="http://schemas.openxmlformats.org/officeDocument/2006/relationships/notesSlide" Target="/ppt/notesSlides/notesSlide25.xml" Id="R62df44efc2954d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e977b23d94239" /><Relationship Type="http://schemas.openxmlformats.org/officeDocument/2006/relationships/notesSlide" Target="/ppt/notesSlides/notesSlide26.xml" Id="R88c1b61db9be441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34297b8f04160" /><Relationship Type="http://schemas.openxmlformats.org/officeDocument/2006/relationships/notesSlide" Target="/ppt/notesSlides/notesSlide27.xml" Id="Ra102c1bd584b45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4d88ac65d47f9" /><Relationship Type="http://schemas.openxmlformats.org/officeDocument/2006/relationships/notesSlide" Target="/ppt/notesSlides/notesSlide28.xml" Id="R4a3cdf6c15d54a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32faef8e24b52" /><Relationship Type="http://schemas.openxmlformats.org/officeDocument/2006/relationships/notesSlide" Target="/ppt/notesSlides/notesSlide29.xml" Id="Rb12331f47fc94cb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5d0c47fa34170" /><Relationship Type="http://schemas.openxmlformats.org/officeDocument/2006/relationships/notesSlide" Target="/ppt/notesSlides/notesSlide30.xml" Id="R0deb908caabb4ba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1287d7f624e9d" /><Relationship Type="http://schemas.openxmlformats.org/officeDocument/2006/relationships/notesSlide" Target="/ppt/notesSlides/notesSlide31.xml" Id="R1577c929e1f84da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869f2791e424d" /><Relationship Type="http://schemas.openxmlformats.org/officeDocument/2006/relationships/notesSlide" Target="/ppt/notesSlides/notesSlide32.xml" Id="Rb1966398587d415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3e450e8f24d71" /><Relationship Type="http://schemas.openxmlformats.org/officeDocument/2006/relationships/notesSlide" Target="/ppt/notesSlides/notesSlide33.xml" Id="R150eb51103ac424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d1e40a62a4b48" /><Relationship Type="http://schemas.openxmlformats.org/officeDocument/2006/relationships/notesSlide" Target="/ppt/notesSlides/notesSlide34.xml" Id="R3da89db108c54c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511B77-D362-4D4C-B689-985CE055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317F9-3E34-42E3-AD4A-304DCC68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AI Technology Topics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ACDB0-1866-451B-8E11-A210303E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CBD5E1"/>
                </a:solidFill>
              </a:defRPr>
            </a:pPr>
            <a:r>
              <a:rPr sz="1950">
                <a:solidFill>
                  <a:srgbClr val="CBD5E1"/>
                </a:solidFill>
              </a:rPr>
              <a:t>Concise technical notes from four AI video transcripts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94F3D1-7FB2-40F6-A4AD-B40109CD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CE705-535B-4691-A52F-61FD0A90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A3930-E82F-40C8-BCE1-9AF5E17B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7A1D2-12E5-4E2F-9337-8583BAF0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9E346-84D4-4995-9CBD-64FB6155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5028B-92E8-48BB-B9C6-260FE02E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AD90B-5424-4ACF-A632-0D3D9CBB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DEE89-E3D6-4739-983A-3C5619EE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A73F0-56D3-42E8-942F-EE060D50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7F3D0"/>
                </a:solidFill>
              </a:defRPr>
            </a:pPr>
            <a:r>
              <a:rPr sz="1500">
                <a:solidFill>
                  <a:srgbClr val="A7F3D0"/>
                </a:solidFill>
              </a:rPr>
              <a:t>Definitions • tech stack • key concepts • learning path</a:t>
            </a:r>
          </a:p>
        </p:txBody>
      </p:sp>
    </p:spTree>
    <p:extLst>
      <p:ext uri="{BB962C8B-B14F-4D97-AF65-F5344CB8AC3E}">
        <p14:creationId xmlns:p14="http://schemas.microsoft.com/office/powerpoint/2010/main" val="9090660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8E3C97-B874-4D7A-9BF4-1AF4053B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F6926-259B-4F72-A976-3C6D6020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B70DF-5576-4DA6-A3D8-571CAC0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D8B35-218A-4F41-907C-D8CE52AF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Four Topics Covered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03B22-39BA-47C6-906B-67CFEE79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2EA2C-824A-4AAC-8C9D-454DBA1D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CA72E3-5A44-4DDB-B247-2A80C2C3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Diffusion Gemma + Live Translation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B9D55-8573-4449-8148-8CAE69E3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Speed and interaction are becoming as important as raw model quality.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9CE4D-01CA-4F9E-BA48-04185E3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92DBB-C446-4454-BF1B-3301E87F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C7347-FFDF-4F34-8505-0C48001D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From AGI to 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D7375-BD5E-4409-AA3A-796F5E96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AGI is not the finish line; it may be the start of industrialized intelligence.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912F9-1F15-4A21-BB6E-85DE0711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1B17C9-F19C-40E2-848D-ECD64D6A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848E5D-1D89-461E-AA47-CA28CC91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OpenRouter 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88811-FD08-401F-81E8-E49DA19A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Fusion is strongest for research-heavy questions where blind spots matter.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E555B7-F2D6-4D8B-A795-57A05F5AE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8FCD2B-11D2-435F-A29B-E23C7E12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2771A-243F-48D6-B691-76AC9BC3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Abacus AI + Fusion Agents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7EA41F-BDDB-4448-AA21-B0002AC2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The next jump is from impressive answers to finished, usable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32198-5F71-4175-B30E-16134B2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2</a:t>
            </a:r>
          </a:p>
        </p:txBody>
      </p:sp>
    </p:spTree>
    <p:extLst>
      <p:ext uri="{BB962C8B-B14F-4D97-AF65-F5344CB8AC3E}">
        <p14:creationId xmlns:p14="http://schemas.microsoft.com/office/powerpoint/2010/main" val="1466374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81C8B-E10C-4ADC-A46D-BFC875A3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A38FC-EAD6-4FD6-8180-6D9BDC51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7C451-45CF-48E4-8D72-25BE8C0A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8D6B9-EA14-4FA2-B294-9AEC81BE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Diffusion Gemma + Live Translation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48351-2C49-46D2-95BB-D0E55D29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F98F7-D9C8-45F3-A7CA-371B471C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8112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7726E-BB5D-4660-B298-EC98491A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0439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C7E99-2D10-4679-82EE-659D372F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4BD30-8204-423B-A5CE-50C6CC5F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0FE5B-DEFA-4983-BFE4-FB9F37A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998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Diffusion Gemma is an experimental text model that improves a whole text canvas over multiple rounds instead of generating strictly left-to-right.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C649B-2C99-4D19-994A-A13249C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39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2B28A-7926-4D33-B015-E3C4EE8A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086BE-F29D-4D1A-8E50-449026D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Why this topic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F81F0-CEC0-485A-B8B5-3B7EB389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Speed and interaction are becoming as important as raw model quality.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3F059-0F7A-4FA1-A008-4B3FA454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3</a:t>
            </a:r>
          </a:p>
        </p:txBody>
      </p:sp>
    </p:spTree>
    <p:extLst>
      <p:ext uri="{BB962C8B-B14F-4D97-AF65-F5344CB8AC3E}">
        <p14:creationId xmlns:p14="http://schemas.microsoft.com/office/powerpoint/2010/main" val="1123854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B45394-525E-410A-8F9E-E49087C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46350-9C5B-46CA-9E2F-3B4F4B4F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40611-97E5-461C-A4C6-1FF85D6C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A8ADC-8612-4BA9-BFB2-2199A75C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Important Definitions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8DD75-64DF-4E6E-AC27-D3C9E351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64F5B-EF15-4DC6-AFB9-D6A937DB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2C62D-79FF-480D-99C3-E867282D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Diffusion 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3F1B6-A7D7-4DBA-AFCF-BB100941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model that starts with noisy or placeholder text and refines the whole answer over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DD9CE-BB3C-4BEA-BBEC-AB309943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5129C-B8CD-4A7A-A292-6EA27B1C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39B47-55C0-4EC4-A6EB-EC767D53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Autoregressive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7BE27-C688-4E69-BB00-D65B73C8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model that predicts the next token one at a time, left to right.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24E12-3A0F-4364-9920-3DF5D711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D2850-AD4A-42E3-8F9F-D27F6B5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DD1C1-F2DD-4C1E-9776-1FE24DCE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MoE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0F8BF-6BC9-444C-B529-64E10D73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Mixture of Experts: many expert subnetworks exist, but only some activate per request.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7110D-E19A-4E6E-A7C0-6D2B83B6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C6267-FB3F-4DC1-A250-163569ED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C2A2B-925F-4458-B77B-FDBF39B9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Quantization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6A86D-3CDD-4A36-BB3B-66AF86D3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Reducing model precision, such as 4-bit, to lower VRAM and speed up inference.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023DBC-5597-4204-82B0-2D96EE32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4</a:t>
            </a:r>
          </a:p>
        </p:txBody>
      </p:sp>
    </p:spTree>
    <p:extLst>
      <p:ext uri="{BB962C8B-B14F-4D97-AF65-F5344CB8AC3E}">
        <p14:creationId xmlns:p14="http://schemas.microsoft.com/office/powerpoint/2010/main" val="980428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550810-FDA3-479B-B359-859B7822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117FEE-AF8F-45ED-AF34-9F89BFEC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82FAD-5D3F-410D-8399-09E2FCD8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8FBB6-BCEB-4383-91C4-948FD810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Plain-English Explanations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B661B-A0E7-4F9F-AAC1-F5523A01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E0571-0B1A-4FEA-9A25-3FBF56A1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168C3-3350-4B37-A631-4E965EFB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Quantization / VRAM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A696E-2F77-4BD7-9C28-D13FD900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Quantization makes a model smaller by storing numbers with fewer bits. VRAM fit means whether that smaller model can run inside your GPU memory. Example: a model that needs 24 GB VRAM may fit into 12 GB after 4-bit quantization.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AAF78-E89F-4899-99C7-25EA875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20BAA-A11A-4D0E-A98F-1933AF5E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DFBED-A986-4A23-8328-FE4F280C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Diffusion vs next-token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EEA33-C58B-4BEA-A875-E7B5BE92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normal chatbot writes word by word. A diffusion text model starts with a rough block and improves the full answer, so it can revise earlier parts while forming the final output.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BAA7E-B8E2-4B38-AD55-CF6A6209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7F3832-17DB-4534-8244-EDB1C8D3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2F955-261E-49A7-9AD0-665D4587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Why local speed matters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732B8-A42F-4FCB-A89F-EC160204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Cloud systems can batch many users together. Local users often run one request at a time, so faster generation on one GPU is very valuable.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C8422A-1D2B-4F7E-964E-0435190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5</a:t>
            </a:r>
          </a:p>
        </p:txBody>
      </p:sp>
    </p:spTree>
    <p:extLst>
      <p:ext uri="{BB962C8B-B14F-4D97-AF65-F5344CB8AC3E}">
        <p14:creationId xmlns:p14="http://schemas.microsoft.com/office/powerpoint/2010/main" val="9944352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A1262-D2EB-46CB-8EA6-37AC0CE2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0A866-3857-4140-AFD2-6E93747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A0E81-C61C-470B-B1C6-C311B209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04249-9478-4E05-ACDA-981EBF17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Tech Stack /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8F2270-6485-4514-8FEC-E5DC6D21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80C2B-4128-49F8-A24E-D5F520BE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DA98B-E2E3-48BB-B91F-330E8C88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Diffusion Gemma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AE8F3E-207E-4303-8A1A-509EEC4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Open text model focused on faster local or low-concurrency generation.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A2C7A-AE12-45CE-96D7-7EAC4F03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7A1AC2-C2FA-40B5-8BE8-A30840E2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05855-E67A-4EC4-B71D-2E297833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Gemma MoE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2AE31-2471-4615-B95C-868E04F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26B mixture-of-experts base with only a smaller active part during inference.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F7896-374B-4C98-9F71-628F8C1F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6D02F-6166-4604-BD6D-4DE49ACE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BFFC8-D8D4-4589-BE89-A223974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GPU targets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CBB024-5B9B-4639-B2A6-6B2AF498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H100, RTX 4090/5090, Hopper, Blackwell, DGX-class machines.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624F2-C5D5-4648-BDD6-A6444AE5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41C207-F2A2-4ACF-BEDA-B42D256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83ACD-D5D5-4E3B-9F81-79CA72DF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Runtime ecosystem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794C2-1286-4F33-B2CD-5AF3839E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Hugging Face, MLX, vLLM, Transformers, Unsloth, Nvidia NeMo.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76B7A-7B7D-4690-9DE0-9BB2E283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E8D1F-4778-4001-B0DF-37853125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ED8A8-CB5D-4F73-AA40-6E95F3D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Gemini Live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1F31D3-C11B-4016-88F2-E1F05BA3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Near realtime speech-to-speech translation across 70+ languages.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B9D13-29C1-45BE-859D-BD967A4D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FB255-0F82-421D-8775-2BBEDE1C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597734-3F2D-43EC-B4F0-A0A0419C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SynthID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209E82-DA24-47B4-BAB2-EFF2300C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Watermarking layer for AI-generated translated audio.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98BC99-9AB8-4446-A6F2-0BD1E756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6</a:t>
            </a:r>
          </a:p>
        </p:txBody>
      </p:sp>
    </p:spTree>
    <p:extLst>
      <p:ext uri="{BB962C8B-B14F-4D97-AF65-F5344CB8AC3E}">
        <p14:creationId xmlns:p14="http://schemas.microsoft.com/office/powerpoint/2010/main" val="11047427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2C1B4-C28C-4EB2-92B6-75BC3194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4122A-F53F-41E6-8D98-360F3518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7FED5-65B0-44B2-8034-D7DE14FF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DD9D5-34CB-48C7-9AE6-B14AC383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4E991-7475-4C70-9188-B2AFF5F8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Normal LLMs generate token by token, so earlier words are mostly fixed.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Diffusion Gemma starts with a rough text canvas and improves the whole block over rounds.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This can help when the answer must be internally consistent, such as code infilling or structured parsing.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Gemini Live Translate applies realtime audio modeling so speech translation happens while people are still talking.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3AFF7-013D-4487-B076-8BD446ED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7</a:t>
            </a:r>
          </a:p>
        </p:txBody>
      </p:sp>
    </p:spTree>
    <p:extLst>
      <p:ext uri="{BB962C8B-B14F-4D97-AF65-F5344CB8AC3E}">
        <p14:creationId xmlns:p14="http://schemas.microsoft.com/office/powerpoint/2010/main" val="12312738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144D8-B2F3-4561-AABA-43A7FDFC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000EC-3264-4AC9-83E4-3E51837E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27939-739D-4699-8EE2-50BBE1F1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1271C-525F-4DB9-8826-AB91F302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Sample Use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F10424-87E8-4AA0-8680-D1CD9228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Local AI assistants that need very fast response speed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Inline writing, editing, and code completion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OCR, document parsing, and structured extraction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Realtime multilingual meetings, travel, classrooms, and support calls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87886-622B-40C8-BB0F-44546FB6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8</a:t>
            </a:r>
          </a:p>
        </p:txBody>
      </p:sp>
    </p:spTree>
    <p:extLst>
      <p:ext uri="{BB962C8B-B14F-4D97-AF65-F5344CB8AC3E}">
        <p14:creationId xmlns:p14="http://schemas.microsoft.com/office/powerpoint/2010/main" val="20056337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B9098-464F-4C85-A599-9341CBE4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3CA2-935E-454B-9C47-9158317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E30A3-DA85-44E8-A5DA-C2EAE0FD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F1331-DCE3-4CEB-AD93-68E2432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What You Should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9462A-982C-4D50-AC0A-8A9AB090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Autoregressive vs diffusion LLMs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MoE model basics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vLLM / Transformers / Unsloth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Speech-to-speech APIs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Model deployment on GPUs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5F27C-C86E-4627-8E5B-3848D510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9</a:t>
            </a:r>
          </a:p>
        </p:txBody>
      </p:sp>
    </p:spTree>
    <p:extLst>
      <p:ext uri="{BB962C8B-B14F-4D97-AF65-F5344CB8AC3E}">
        <p14:creationId xmlns:p14="http://schemas.microsoft.com/office/powerpoint/2010/main" val="1344967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06E831-CBB7-4120-9353-F84D567E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79699C-EA37-4F3C-8C12-FD5B6A80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6EEB2-A6C3-4088-A7BC-059FFA01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5451A-C0DC-4878-9809-8F9ECD0D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Presenter Cues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AB541-4D6D-4AF3-8ABD-E72F6CA9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Say: this topic is mainly about speed and interaction, not just bigger intelligence.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Remember: diffusion text generation edits the whole answer, unlike next-token models.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Good example: realtime translation removes the stop-and-wait feeling of older translators.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8539C-B321-4B60-A958-DAD2763F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04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6E9BA-B7F4-43C5-8ACB-AC8B4860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87322-8ADA-4DBF-AA4D-A5DD504C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Main takeaway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B2525-604E-4658-BBA9-B5A45400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Speed and interaction are becoming as important as raw model quality.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AEBBE-44B0-4082-9F68-370F7D7B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Google AI Speed + Realtime Translation | 10</a:t>
            </a:r>
          </a:p>
        </p:txBody>
      </p:sp>
    </p:spTree>
    <p:extLst>
      <p:ext uri="{BB962C8B-B14F-4D97-AF65-F5344CB8AC3E}">
        <p14:creationId xmlns:p14="http://schemas.microsoft.com/office/powerpoint/2010/main" val="12406458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3B4D6-5927-4AA7-A332-DC3DAB67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A236B-5998-45A9-B266-076E275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DF756-1C3C-4C86-B535-C37F0DD0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77010-DF5B-43EC-AEA7-EF8E2B3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From AGI to ASI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7B6B7-2136-40B6-AF69-96FE1290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1854A-3795-4923-BF90-DFCDCE4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8112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D545A-5139-4594-BC56-C93541D5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0439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6CE3A-192B-44D8-A8E5-A946009B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BF7E8-27B2-458A-9250-06EE53F4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1A7E3-95E5-47C6-BB4E-B42B2174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998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AGI means broad median-human cognitive ability; ASI means capability beyond large coordinated groups of top experts over long periods.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996C1-0185-475E-BE75-7BA6C8CA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39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C3CDE-B274-4B90-900C-F2C1E589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7AD423-76B9-4227-AC3D-B2B059FD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Why this topic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8EB56-F63A-483F-A2E0-D7648B01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AGI is not the finish line; it may be the start of industrialized intelligence.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132946-7BF4-436E-B222-F9FADDC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11</a:t>
            </a:r>
          </a:p>
        </p:txBody>
      </p:sp>
    </p:spTree>
    <p:extLst>
      <p:ext uri="{BB962C8B-B14F-4D97-AF65-F5344CB8AC3E}">
        <p14:creationId xmlns:p14="http://schemas.microsoft.com/office/powerpoint/2010/main" val="2516122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B1C414-583C-43BD-9616-5703124D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CE9A4-8564-4A3E-A39F-E68BE903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4C589-7D8A-4730-B5F9-2B9D0B39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4A11B-1339-4C5B-BE76-27EC1B61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Important Definitions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DB383-C21B-4458-BDEA-992F70B0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E96FE-9087-4572-AED1-2A3EAEC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03C93-CC2C-413B-B50C-AFB4F14B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AGI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91CF4-5073-4A85-9259-B4D078B4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Artificial General Intelligence: roughly human-level ability across most cognitive tasks.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5445C-DA30-44F1-89B3-0DF8EF8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ED1326-11AF-42AC-B6D9-A58B60E1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70CCC-B3B7-4AB0-B812-2D23EACA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02269-E400-4D44-B40F-0CBC5CC0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Artificial Superintelligence: capability beyond large groups of top experts over long periods.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6CC30-6B1C-4A8C-AA15-B817F729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03C3DA-D638-4017-BC7E-A260C02A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99F5E5-3A46-4403-80CE-8FCF722C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AIXI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3FD1C-418C-4118-9CCF-9991033B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theoretical ideal intelligence model; useful as a concept, but not computable in practice.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41162-6198-4518-91B2-8E46CB20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F51CF-13E1-4A01-B8A7-5A05E260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1C5A3-A9F1-412D-BB54-86C3487B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Recursive self-improvement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B94C6-5E2A-4D4C-BB46-C84ADD0A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AI improves AI research, which creates better AI, which then improves research further.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4E196-93BD-47B9-8D23-C7D94EE8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12</a:t>
            </a:r>
          </a:p>
        </p:txBody>
      </p:sp>
    </p:spTree>
    <p:extLst>
      <p:ext uri="{BB962C8B-B14F-4D97-AF65-F5344CB8AC3E}">
        <p14:creationId xmlns:p14="http://schemas.microsoft.com/office/powerpoint/2010/main" val="9968442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0C074C-D048-4F1B-978E-D0DDE6F5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373FAE-01D0-473A-A0E3-9D712103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247FF-BF7E-45C7-A9D7-99B52254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23EA-F306-4183-ACCA-19FB08DC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Plain-English Explanations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9C7AC-6339-449D-B981-BF5F2E73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22F77-0253-48FA-8FA8-F13F7A04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B30F2-AE07-46F6-A51E-ECE5E9CD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AGI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D650E-ED35-42C3-A0F6-34032BD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Think of AGI as an AI that can do many different mental tasks at an average human level: learning, planning, reasoning, communicating, and using tools.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E59E4-A616-4020-A273-2E586DB1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C4673-E710-416F-BBAF-1E47C46D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40421-A0D4-45DD-B872-276321A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3B7E1-433B-4172-8BFD-1F3F9839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ASI is much bigger than one smart model. It means intelligence stronger than thousands of top experts working together for years on many domains.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4EC13-31D2-4367-ACA7-FD4840B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EB855-4D45-4925-9DA0-735EBA17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7A87A-A252-4A46-912C-F2E3189E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Data wall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FA2AD-77B7-465F-9F53-8F90C48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AI progress needs high-quality training data. If models grow faster than useful human data, progress may need synthetic data, simulations, or self-play.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EC185A-C03D-4FB6-8242-DE513CB2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13</a:t>
            </a:r>
          </a:p>
        </p:txBody>
      </p:sp>
    </p:spTree>
    <p:extLst>
      <p:ext uri="{BB962C8B-B14F-4D97-AF65-F5344CB8AC3E}">
        <p14:creationId xmlns:p14="http://schemas.microsoft.com/office/powerpoint/2010/main" val="17513097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A6158-4E3D-4089-B2C8-031B19F9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F29D6-E4C5-47DD-9212-823FA68F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BC025-7331-47F2-B2F4-0C62F69B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CBA49-7E6F-44DC-B7C8-83665739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Tech Stack /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3FA5D-C8BB-4EBD-9825-224E606F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6458D-28F3-4D5B-AE98-6BAE14E9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22720-E5D3-4A23-9B14-FE6546F2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Scaling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22D3C-AF65-47AD-A190-294CAB6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More compute, data, and efficiency to multiply useful intelligence.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EEA7E-0EBB-426D-83DA-CF2353F0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DFD66-4954-4A12-85E9-CC803C5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34BF1-C49C-425E-9558-07C8FFB8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Paradigm shifts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B258D-FF4F-4FA5-A665-75F0D46A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New architectures, memory, planning, world models, or hardware.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0D49D-6899-493F-AC57-04101390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E0F2D-ACA3-4C9A-9789-9005FB47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9208-1A7E-444F-B0C6-70D40569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Recursive improvement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434DB-3802-4611-B65C-9BFF7669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AI helps improve AI research, chips, data, simulations, and tooling.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7B59E-B5CD-40F4-827A-95F6862D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3ECA2-AB6E-4376-ABA1-3EFF40FF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DD9A39-9F0F-4A30-8CCC-0B53B629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Multi-agent collectives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59D13-B2D4-4B6D-B247-C1CD4D52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Many coordinated agents can behave like a digital research organization.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B044F-EA89-42A2-BFEF-6AD5A21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CF11B-16C1-49DD-8A78-9AFB4E8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43F811-2FB3-4C23-8179-7A1A9C3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Synthetic data / self-play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349DB-B961-4DD8-941F-D905A8E6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Possible workaround for data limits if quality can be controlled.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0BCBB2-E9BA-4777-AFB7-75AB2714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6481F-BE94-47C6-B0B1-E639A080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DA98B-5C41-4CA0-869B-89741E3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Governance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8FE91D-EAC8-4593-86A4-EF2C51D9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Regulation, safety, licensing, and public trust may slow or shape progress.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A01FD-7727-4C19-8764-BF469DC8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14</a:t>
            </a:r>
          </a:p>
        </p:txBody>
      </p:sp>
    </p:spTree>
    <p:extLst>
      <p:ext uri="{BB962C8B-B14F-4D97-AF65-F5344CB8AC3E}">
        <p14:creationId xmlns:p14="http://schemas.microsoft.com/office/powerpoint/2010/main" val="1464720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C524F1-4E1A-4E1B-9A4C-E7A1C28A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3DE44-9839-4FDC-9BD0-6C376A9F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1FCC2-5B16-4064-AB7D-A8FDB6FC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EBA6D-AE71-4A12-B1F0-A457BFA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967EA-FA8D-4273-A6F5-AF031529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AGI is treated as a starting point, not the final destination.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ASI could emerge from scaling, new algorithms, recursive AI research, or multi-agent collectives.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The paper highlights frictions: data, compute, energy, harder research, abstraction limits, and regulation.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Important balance: ASI may be very powerful, but still constrained by physics, time, energy, and complexity.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5D183-C599-41FD-9C68-DECC3E4B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15</a:t>
            </a:r>
          </a:p>
        </p:txBody>
      </p:sp>
    </p:spTree>
    <p:extLst>
      <p:ext uri="{BB962C8B-B14F-4D97-AF65-F5344CB8AC3E}">
        <p14:creationId xmlns:p14="http://schemas.microsoft.com/office/powerpoint/2010/main" val="158263981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7DA63-E93F-4B2E-9C53-0CB1B525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C1634-BBFA-4644-BD05-39313676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BE775-002F-442F-B40F-31DA4F6D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D17E9-7D00-4D3B-BD4D-3BD90DC8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Sample Use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06F0A-5846-44E1-9BBB-38CA3E2B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Understanding future AI risk and governance conversations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Thinking about why agent collectives may matter more than one huge model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Evaluating whether compute, data, or algorithms are the main bottleneck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Preparing for AI systems that can coordinate research and engineering at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7BEBC-5585-443C-8B64-3EB93E86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16</a:t>
            </a:r>
          </a:p>
        </p:txBody>
      </p:sp>
    </p:spTree>
    <p:extLst>
      <p:ext uri="{BB962C8B-B14F-4D97-AF65-F5344CB8AC3E}">
        <p14:creationId xmlns:p14="http://schemas.microsoft.com/office/powerpoint/2010/main" val="17069776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E847C6-4089-4480-A63F-3FABFB27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2B896-35F5-4652-9385-7400BCEB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6529F-77B8-4DD5-AC3C-E9731C11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27E4A-6DDB-4624-B2B3-A1589547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What You Should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DA1B6-D229-48CA-B63D-9564A40E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Scaling laws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Agent collectives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Long-term planning and memory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AI safety basics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Compute and energy bottlenecks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92064-1C23-4805-A0A5-A97E4444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17</a:t>
            </a:r>
          </a:p>
        </p:txBody>
      </p:sp>
    </p:spTree>
    <p:extLst>
      <p:ext uri="{BB962C8B-B14F-4D97-AF65-F5344CB8AC3E}">
        <p14:creationId xmlns:p14="http://schemas.microsoft.com/office/powerpoint/2010/main" val="1738108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0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1122C-AE33-4DC8-8825-2FF42102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8D1C6-FD83-44A3-BBA4-2BB26CC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5E838-1A62-4322-A1AC-97BF9365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9454E-279A-475C-B96A-500E6E6A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Presenter Cues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2EA55-929A-44FE-97D5-AAC8F6BE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Say: AGI is average human-level general ability; ASI is far beyond coordinated expert groups.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Remember the four paths: scaling, paradigm shift, recursive improvement, multi-agent collectives.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Avoid hype: even ASI is not magic; it still faces real-world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D0344-1868-4DAF-8478-7D4108DF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04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65079-367E-4120-922D-5BBD1FC8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C3147-8359-4704-BBB3-E99DF11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Main takeaway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9FFBF-9516-4513-8138-A8F6DDA5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AGI is not the finish line; it may be the start of industrialized intelligence.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AF3CE-1115-4F95-A429-087D59A4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DeepMind’s Post-AGI Roadmap | 18</a:t>
            </a:r>
          </a:p>
        </p:txBody>
      </p:sp>
    </p:spTree>
    <p:extLst>
      <p:ext uri="{BB962C8B-B14F-4D97-AF65-F5344CB8AC3E}">
        <p14:creationId xmlns:p14="http://schemas.microsoft.com/office/powerpoint/2010/main" val="6286751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E98811-4874-450C-9F5A-749542F3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1FB04-B009-4EFD-9FB5-A8868E5A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D130D-2078-4819-85D1-163826D6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17C0C-0D7F-4D88-976A-DBC43A23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OpenRouter Fusion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34F40-1244-4A8C-A48C-DCD517DB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529A5-2DAE-4B71-8256-D164BB64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8112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020234-8CBB-4931-9EAE-F2F62E02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0439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1E9E7A-70C4-48E9-B8C8-8740D996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3977D9-3340-47A2-9BCA-9ED0624C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E25D2-9DC2-4EF5-8D1D-EC00F4FB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998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Fusion sends one prompt to several models, then a judge/synthesizer compares their answers and produces one final response.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01F38-D1D4-49CB-98C1-9154A15C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39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45FEC-26FF-4976-80D7-BA1A346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A5A98-5F09-45D7-9667-6F240734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Why this topic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FEC025-7755-436B-9704-9CC1753D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Fusion is strongest for research-heavy questions where blind spots matter.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88307A-D116-447E-BB8F-62787CF1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19</a:t>
            </a:r>
          </a:p>
        </p:txBody>
      </p:sp>
    </p:spTree>
    <p:extLst>
      <p:ext uri="{BB962C8B-B14F-4D97-AF65-F5344CB8AC3E}">
        <p14:creationId xmlns:p14="http://schemas.microsoft.com/office/powerpoint/2010/main" val="18612867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D172DD-F3E0-4B51-B756-42CCBF38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3C52B-81AF-4C04-B040-FEDAD228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22F8E-F756-412B-B0D0-F889F2FB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4718A-806C-4AE2-98E8-FBBF296F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Important Definitions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C2863-26B8-4E37-85D0-9FDE6779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7C0C5-4610-4CB3-B031-40CD26BA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2BF6E-CE86-49EE-A167-EA6E91B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Compound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26E90-C150-4331-A1B2-C95527D6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system made of models, tools, routing, checks, and synthesis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38EB3-5267-4C75-A2A9-B0E1339E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93B35-FA0F-4E33-9188-C791CD3D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BC2C5-A2B6-48A6-8A65-B3BB6E01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Worker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5633A-FDDD-4E4D-A05D-BF8132AA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One model in the panel that independently researches or reasons about the prompt.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96D03-2C58-46FC-8684-6893DEEC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96EA4-3FEC-4912-8AC9-C56278EC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63E9D-6615-4F75-894E-A8DBCE8D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Judge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523F3-69EA-4F1A-8785-694479FF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model that compares worker answers and merges the strongest parts.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FC108-A454-4EAF-8EEB-A7C870E7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D2938-DA3E-463E-84A3-4EB1045B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F184F-F742-4199-BC7B-F131DAE0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Long-horizon task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33546B-EE47-4A24-B6F3-0F71F8DD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task with many dependent steps where memory and state tracking matter.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50498E-5734-4F16-86B5-DB165ABB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20</a:t>
            </a:r>
          </a:p>
        </p:txBody>
      </p:sp>
    </p:spTree>
    <p:extLst>
      <p:ext uri="{BB962C8B-B14F-4D97-AF65-F5344CB8AC3E}">
        <p14:creationId xmlns:p14="http://schemas.microsoft.com/office/powerpoint/2010/main" val="2679898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C57C5-894F-4637-98ED-ADC1F120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95525-6A93-4A43-8617-C098A160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6D7EB-5610-4A16-87BB-6732ED7A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CB6B6-7D96-4F03-9647-BD2FD97E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Plain-English Explanations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923B8-7D72-4D81-B10B-0193D80E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988F0-8153-4021-9B1F-CFE6133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616E9-1475-406E-B74B-D362C61B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Compound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D1B3A-E705-41D9-B324-4CE7A295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Instead of one model doing everything, several models and tools work together. This is like asking a team to research a topic, then asking one editor to combine the best parts.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9100B-2DC7-45F7-934A-FDFE6B4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6E0F6-3E96-47FE-AB51-BEDC19A6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D08BD-4D26-4364-8C33-456A9B85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Judge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C5E86-27E3-4234-BDCD-96C2A88F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The judge is not judging people. It compares model answers, checks contradictions, finds missing points, and writes a stronger final answer.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B460A-5693-4466-80AC-02147140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474CF-83E4-4D8E-B47B-5665A473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CB171A-A315-478C-A23B-9B7C3616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Long-horizon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806E2A-3BE0-4BED-985A-D50B68F7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This means work that takes many steps, like debugging a large app. Step 20 depends on step 19, so memory and consistency become important.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EDF70-E47C-4355-B6CB-F991BD5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21</a:t>
            </a:r>
          </a:p>
        </p:txBody>
      </p:sp>
    </p:spTree>
    <p:extLst>
      <p:ext uri="{BB962C8B-B14F-4D97-AF65-F5344CB8AC3E}">
        <p14:creationId xmlns:p14="http://schemas.microsoft.com/office/powerpoint/2010/main" val="17554104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C08900-7E95-4BC2-9781-591E5640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DCF31-79A6-4217-A3A6-B98FB4C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CCFBC-EE69-4F42-B52E-8A0ABFED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DEFB2B-14A5-4D04-99CB-ACF2F2B0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Tech Stack /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70DC7-7B0B-4081-968D-238B117D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074A8-C440-46C6-9F1F-3EA387AF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B015B-5526-4E4C-B54F-D2E1F664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OpenRouter Fusion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D560A-5EE0-46C4-9D01-A62FC68B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Compound model system that coordinates multiple model answers.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3627D-D279-4452-9ABC-52B09B03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0E1D0F-6A47-46CE-A215-D4350523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07AB6-1CE2-47A8-AB98-30E22032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Worker models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2196B-D0DE-472C-B442-1BA7D413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GPT, Claude/Opus, Gemini, DeepSeek, Kimi explore different reasoning paths.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A69FF-EFBF-42C5-B3C8-56752378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2B9B8-EE27-4C71-97B9-86F5C9BD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EC524-3C56-4696-AA4E-9A7503CB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Judge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6FD2E-DB9C-47CD-98E9-D28F7131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Finds consensus, contradictions, missing points, and strong unique insights.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5E713-DF35-460E-8DDF-A880BF40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77168-1362-4CE8-9617-3472D6F7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D1F5E8-875C-46BC-B217-8BFD3043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Exa Search / Fetch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4EFAC-6698-4807-9C23-FD77A732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Web research layer for source-heavy tasks.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2F9B8-A648-4A93-B0C3-990DB52A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8FF0C0-7D55-4CAC-B931-3CFD9AF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C23B3F-C6F9-40E3-9173-5BD7A3F9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Bash tool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08789-88A7-478C-A4C1-17A23BC5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Supports technical checks and small reproducible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66113-2BBF-43DD-B19C-BC25F13B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1D16B6-E45B-4C3A-8D80-FD85223D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B2061-4F69-4FD4-8787-B645A5E6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API / plugin mode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4A9B1-9159-48B8-AEA2-1AC7FED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Use `openrouter/fusion`, or call Fusion selectively from another model.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AA4417-4D64-4660-8053-3FF6148A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22</a:t>
            </a:r>
          </a:p>
        </p:txBody>
      </p:sp>
    </p:spTree>
    <p:extLst>
      <p:ext uri="{BB962C8B-B14F-4D97-AF65-F5344CB8AC3E}">
        <p14:creationId xmlns:p14="http://schemas.microsoft.com/office/powerpoint/2010/main" val="11819505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C325E-38D0-4194-96D5-EBC79A7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DD988-E201-4062-932B-AA1ED48A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DF02-0B6A-4BFE-A57E-EFB2D350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DB95C-322C-4EA0-BCAB-E1B6368A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9D7B3-0F01-4650-93BB-20BF8514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A prompt goes to multiple models in parallel.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Each model may use tools and produce its own answer.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A judge model compares agreement, disagreement, missing assumptions, and unique findings.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The final response is a synthesis, so it can catch blind spots better than one model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42602-02A1-4B26-9D13-5442A172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23</a:t>
            </a:r>
          </a:p>
        </p:txBody>
      </p:sp>
    </p:spTree>
    <p:extLst>
      <p:ext uri="{BB962C8B-B14F-4D97-AF65-F5344CB8AC3E}">
        <p14:creationId xmlns:p14="http://schemas.microsoft.com/office/powerpoint/2010/main" val="10175081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6D44DE-7B8A-4EB8-BB76-6B89CD7C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E698F-92C9-4F6C-8914-E63270F2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88815-8ABB-423C-B88C-4826AF56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5EF5D-4293-4D5C-8C8F-C41A50EE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Sample Use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B4558-AE2A-4055-B2C4-BF9743B7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Deep research reports with multiple sources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Architecture or framework comparison before building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Vendor, model, or product evaluation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Complex debugging where different hypotheses are useful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7B611-2B57-482E-8A34-76C5CE84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24</a:t>
            </a:r>
          </a:p>
        </p:txBody>
      </p:sp>
    </p:spTree>
    <p:extLst>
      <p:ext uri="{BB962C8B-B14F-4D97-AF65-F5344CB8AC3E}">
        <p14:creationId xmlns:p14="http://schemas.microsoft.com/office/powerpoint/2010/main" val="721200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5C0531-30BC-4B59-841D-2C03E37D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60058-FB26-4D93-95A6-27DE778A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730EF-ED3E-4A55-B60C-8C5DBA1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ACE6E-CF70-410B-BE4E-EB75E577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What You Should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641B0-CE4A-4987-B283-F56165AE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Model routing vs fusion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Evaluation design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Cost-aware model selection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OpenRouter API basics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When to use single vs multi-model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B159F-FD2F-47DC-B3A3-1348635A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25</a:t>
            </a:r>
          </a:p>
        </p:txBody>
      </p:sp>
    </p:spTree>
    <p:extLst>
      <p:ext uri="{BB962C8B-B14F-4D97-AF65-F5344CB8AC3E}">
        <p14:creationId xmlns:p14="http://schemas.microsoft.com/office/powerpoint/2010/main" val="20285241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E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A851E0-CD69-441C-948F-A3BA8D25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FD9F0-B7A9-4243-9132-B12D1AC9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06379-EA15-4009-A88D-0A9670C4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91B2"/>
                </a:solidFill>
              </a:defRPr>
            </a:pPr>
            <a:r>
              <a:rPr sz="1050" b="1">
                <a:solidFill>
                  <a:srgbClr val="0891B2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74DBF-0BA6-4148-9B1E-9B262EE4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Presenter Cues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85CBE-3E95-4B9D-A812-1B8E3F48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Say: Fusion is like a mini research team plus an editor.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Remember: it is best for important research, not tiny quick tasks.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Key tradeoff: better coverage and blind-spot detection, but more cost and less consistency than one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3A1B0-EB75-45B9-B61D-23F6D51B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04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2BC57-E01D-4D6E-94C3-3BFB6E6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7DCDF-3A7A-4F70-BC11-AEAD08EE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Main takeaway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EBC49-1185-406F-BF3C-D9251961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Fusion is strongest for research-heavy questions where blind spots matter.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6C4C3-7756-4237-BB48-67674FFE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Multi-Model Research System | 26</a:t>
            </a:r>
          </a:p>
        </p:txBody>
      </p:sp>
    </p:spTree>
    <p:extLst>
      <p:ext uri="{BB962C8B-B14F-4D97-AF65-F5344CB8AC3E}">
        <p14:creationId xmlns:p14="http://schemas.microsoft.com/office/powerpoint/2010/main" val="2348395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91035D-DC48-422B-BDAF-304C0044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F7221-6758-4B60-8928-0DF8616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FC840-7B87-43CA-9D2B-4BE10EA5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87BDB-400F-4B7A-B3C2-66728DD3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Abacus AI + Fusion 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1EF6F-669A-4EA7-8567-F1ECA4AE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430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84ED9-B7CD-48FF-975B-90363D63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8112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0D5AA-AA68-4847-BD1C-ED4C5A89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04394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CE096-A204-44BD-A581-F9B23158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3B7D1D-11C6-4B23-BF98-0CFBE6EC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B5C70-0095-47C9-B0CB-0F65C4D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9982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Agent systems combine reasoning, tools, UI generation, deployment, and parallel workers to deliver finished outputs instead of only 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17667-D195-4519-9C7B-B4A171F0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394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A928F-40EE-4C49-8322-FF5C3C59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48924-56FD-48D8-8F71-DA53347F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86250"/>
            <a:ext cx="998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Why this topic matters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41CE2-A651-42C5-A8EE-2BAADF3E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053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The next jump is from impressive answers to finished, usable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5CB85-2B01-41A1-9D4A-0E27D1F1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27</a:t>
            </a:r>
          </a:p>
        </p:txBody>
      </p:sp>
    </p:spTree>
    <p:extLst>
      <p:ext uri="{BB962C8B-B14F-4D97-AF65-F5344CB8AC3E}">
        <p14:creationId xmlns:p14="http://schemas.microsoft.com/office/powerpoint/2010/main" val="167429175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76C1E8-03DD-4DE7-ADD5-0390DF73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68B042-E9F9-4B94-898B-83730478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9E5C3-BF92-4F0E-ADF6-FDDB0DAD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22851-B9C3-4870-BB6E-FC4456D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Important Definitions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93B36-1672-423B-AC25-E0C684FB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B2F0A-2C58-4525-A077-E7A38047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B4BBA-CAAF-4337-914D-55B37E55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AI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66DB0-6AAA-4DA6-888E-CB4EBC82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An AI system that can plan, use tools, take actions, and produce outputs beyond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3F9DF-DDA4-4B05-8CE4-F3EC367A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D3356-61A8-429A-A68E-48451EAE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097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CB9B2B-9D4E-4E6E-AF59-D0E63696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0002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Planner-worker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18CC2-32CF-4F62-BA3F-16310D03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4193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stronger planner splits work; multiple workers execute subtasks in parallel.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69420-DD03-42AF-A392-391DEF91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45AF7-0D91-4052-879A-996C3623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231F9-FC10-4B3C-9640-8FAAFD0F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Tool calling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02287-60BC-4F13-94F7-3415F808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The model invokes external tools such as search, databases, code execution, or APIs.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C2483-0437-4630-92DF-6A1A546A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481012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5635E7-E465-474B-90F3-3226736A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0E40C0-3DB7-4DBC-8114-59E3B04C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714750"/>
            <a:ext cx="4352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Artifact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11AB2-C81F-4EE1-8DF3-78835ADC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133850"/>
            <a:ext cx="4352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usable output created by AI, such as a dashboard, diagram, app, report, or deployed service.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7B79EC-EC64-4C41-A119-A2C3276B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28</a:t>
            </a:r>
          </a:p>
        </p:txBody>
      </p:sp>
    </p:spTree>
    <p:extLst>
      <p:ext uri="{BB962C8B-B14F-4D97-AF65-F5344CB8AC3E}">
        <p14:creationId xmlns:p14="http://schemas.microsoft.com/office/powerpoint/2010/main" val="32989977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4B5A7-51F5-45F9-9E24-A397EEC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02E5F-FB10-4730-986D-E5CE1FA4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58796-62E5-4FE0-9F34-678B2008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F9E72-865B-4D52-AF9A-A4B34E47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Plain-English Explanations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05886-D7FF-4BF8-9D68-A1D8A911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6374E-0F11-4883-A71C-5D5336A8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B1CD5-077F-4C81-9698-091EC02C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859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AI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33F35-A4EC-4631-81DA-3F49366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 chatbot mainly answers. An agent can decide steps, call tools, inspect files, run commands, and produce something usable.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B4520-CB36-4914-819F-37845268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A2333-2E89-4787-8443-A59B3514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8F0DE-4093-43B7-9766-68D5949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3850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Planner-worker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2E7CF-06EF-4944-8A36-8FD7F898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5760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The planner decides the work breakdown. Workers handle smaller tasks in parallel. The planner then merges everything into a final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32DE0A-E0AC-4550-895D-42F66B65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0287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BAEED-3A19-4247-8B09-5AC601D5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BB1F9-A48A-46EE-8476-2E5FDF52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73711-B7FF-4B2E-B204-482FFF4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An artifact is the final usable thing: a dashboard, diagram, app, PPT, code change, report, or deployed website.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6446F-2699-429D-BA20-F3935A0B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29</a:t>
            </a:r>
          </a:p>
        </p:txBody>
      </p:sp>
    </p:spTree>
    <p:extLst>
      <p:ext uri="{BB962C8B-B14F-4D97-AF65-F5344CB8AC3E}">
        <p14:creationId xmlns:p14="http://schemas.microsoft.com/office/powerpoint/2010/main" val="21339704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23F86-6DE9-4372-BF8E-3A1D10C5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A951E-BBB8-4F4F-8F3E-87A033E3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4FD0A-9D81-48A3-83D1-6F9FD829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72348-933A-4EA6-A390-D1176725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Tech Stack /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08A07-BB6B-4B48-8F2F-F1E8B01E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27C54-D279-414C-9AFE-158D5774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2547E-DE80-4C6A-A035-4729979F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Abacus AI agents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09EFA-FA5A-49C2-8BE1-44390312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Generate apps, dashboards, diagrams, and deployed services inside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95664-366E-4502-BB92-40C5EBAA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3E1A2-EF29-423A-9814-8E6C090A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8FDC7-C26B-4A16-AF6A-5BAE22DC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859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Three.js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D9D3E-0F06-4396-8F0A-3D823C93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050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Creates interactive 3D artifacts such as explorable system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7F893-8B28-4F1C-994A-63B5A140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D7BF3-8CCB-4226-9625-CD4F1EA1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CC2FF-5B16-4280-A962-0C23C2B4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Lucidchart / Excalidraw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27BF1-5089-4565-8045-54324EC9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Turns research into editable architecture and concept diagrams.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9F165-F997-4721-B095-2565FD0D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9D7C88-1AB9-44A2-B436-7D420045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3FAD5-1D07-4594-88CD-91092518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Amplitude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F7FA8-5039-4094-B8D0-2C0327A9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Connects agents to product analytics and user behavior data.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EA2F1F-1B50-4DB7-A5DF-39BC0301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AEF95-F29A-43BF-AF6B-49627CD9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FC3842-1853-42DB-81FD-EA0716F2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Infra tooling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65CAFE-6450-47C7-91F1-FAA84211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Nginx, dependency setup, model hosting, testing, and public URL deployment.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80EB6-9191-4D8E-A4DF-1FB1D4A4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762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7F896-22CE-4996-9A23-C422473F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ED4045-1D7C-4D3B-8940-68A7E81B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430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Planner + workers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5C346-F6F1-46F5-9372-FB379A31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Strong planner decomposes tasks; cheaper workers execute in parallel.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935F17-67E4-43AF-8A89-40D2D130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30</a:t>
            </a:r>
          </a:p>
        </p:txBody>
      </p:sp>
    </p:spTree>
    <p:extLst>
      <p:ext uri="{BB962C8B-B14F-4D97-AF65-F5344CB8AC3E}">
        <p14:creationId xmlns:p14="http://schemas.microsoft.com/office/powerpoint/2010/main" val="207555332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403CF-62BD-468D-84F7-86F7828A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E9C3D-B7FD-4C61-943D-D85DFE99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95084-053E-4C5F-B510-73E68F60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F963F-E2C4-4155-9FD5-97F57550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How It Works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CECF6-7446-4E80-898D-4702F51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The system starts with a goal and asks clarifying questions if needed.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A planner breaks the work into smaller tasks.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Worker agents use tools, APIs, files, dashboards, or code to complete subtasks.</a:t>
            </a:r>
          </a:p>
          <a:p xmlns:a="http://schemas.openxmlformats.org/drawingml/2006/main">
            <a:pPr>
              <a:defRPr sz="1725">
                <a:solidFill>
                  <a:srgbClr val="101827"/>
                </a:solidFill>
              </a:defRPr>
            </a:pPr>
            <a:r>
              <a:rPr sz="1725">
                <a:solidFill>
                  <a:srgbClr val="101827"/>
                </a:solidFill>
              </a:rPr>
              <a:t>• The final output can be an app, diagram, report, PR, dashboard, or deployed service.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CA7E1-E1E2-4D20-944C-57981B8F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31</a:t>
            </a:r>
          </a:p>
        </p:txBody>
      </p:sp>
    </p:spTree>
    <p:extLst>
      <p:ext uri="{BB962C8B-B14F-4D97-AF65-F5344CB8AC3E}">
        <p14:creationId xmlns:p14="http://schemas.microsoft.com/office/powerpoint/2010/main" val="152024645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62E6E4-EF87-4A78-A7B9-2383403E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087D5-42B1-4952-8258-20A625FA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C2B12E-53B7-4CD6-B738-82278D1A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BB8CD-586A-4073-BB2B-E6683795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Sample Use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2C693-BFB4-43B2-8A1C-128BA696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Generate interactive 3D explainers with Three.js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Create system design diagrams using Lucidchart or Excalidraw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Analyze product behavior through Amplitude dashboards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Run parallel code reviews, resume screening, stock research, or app review mining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ADFEE-51AD-4C3B-BEFF-006830FB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32</a:t>
            </a:r>
          </a:p>
        </p:txBody>
      </p:sp>
    </p:spTree>
    <p:extLst>
      <p:ext uri="{BB962C8B-B14F-4D97-AF65-F5344CB8AC3E}">
        <p14:creationId xmlns:p14="http://schemas.microsoft.com/office/powerpoint/2010/main" val="123246689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3E61A-62D2-4BDA-9120-2580059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B6774-49DF-4BF3-840A-0D839A4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1DF16-2693-4504-8329-8C83CEAF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902DB-82D2-487A-8DF7-5D796586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What You Should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6E281-6242-45BD-A770-19E7218E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9715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Agent workflow design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Connectors and tool use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React/Three.js/charts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Deployment basics</a:t>
            </a:r>
          </a:p>
          <a:p xmlns:a="http://schemas.openxmlformats.org/drawingml/2006/main">
            <a:pPr>
              <a:defRPr sz="1875">
                <a:solidFill>
                  <a:srgbClr val="101827"/>
                </a:solidFill>
              </a:defRPr>
            </a:pPr>
            <a:r>
              <a:rPr sz="1875">
                <a:solidFill>
                  <a:srgbClr val="101827"/>
                </a:solidFill>
              </a:rPr>
              <a:t>• Structured task orchestration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9C261-6344-498B-A47D-43953155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33</a:t>
            </a:r>
          </a:p>
        </p:txBody>
      </p:sp>
    </p:spTree>
    <p:extLst>
      <p:ext uri="{BB962C8B-B14F-4D97-AF65-F5344CB8AC3E}">
        <p14:creationId xmlns:p14="http://schemas.microsoft.com/office/powerpoint/2010/main" val="92724205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EC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A23F3-6CD4-48AE-B9BD-90597684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3F4EC-7806-473B-B02A-2C8F08F1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BC114-B247-4C6E-B477-7E52B2A9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AI TECH NOTES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00F33C-CE95-4F59-8F3D-D5B044D4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7"/>
                </a:solidFill>
              </a:defRPr>
            </a:pPr>
            <a:r>
              <a:rPr sz="2850" b="1">
                <a:solidFill>
                  <a:srgbClr val="101827"/>
                </a:solidFill>
              </a:rPr>
              <a:t>Presenter Cues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EB6F5-A760-4A83-AF2F-1C0DD414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9715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Say: the model is the brain, but tools and infrastructure are the body.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Remember: the shift is from answers to finished work.</a:t>
            </a:r>
          </a:p>
          <a:p xmlns:a="http://schemas.openxmlformats.org/drawingml/2006/main">
            <a:pPr>
              <a:defRPr sz="1800">
                <a:solidFill>
                  <a:srgbClr val="101827"/>
                </a:solidFill>
              </a:defRPr>
            </a:pPr>
            <a:r>
              <a:rPr sz="1800">
                <a:solidFill>
                  <a:srgbClr val="101827"/>
                </a:solidFill>
              </a:rPr>
              <a:t>• Good example: an agent does not just explain a data center; it builds an interactive model of 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A3357-CEA8-41B7-B38A-6A0CB8AA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0485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AFA91-7A95-4BD0-8E6A-A8FF7342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67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7E7B7-33D7-4087-BF66-BBA5DF00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8577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Main takeaway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EEF51-49A5-4B94-A109-5AF620BA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76850"/>
            <a:ext cx="659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173"/>
                </a:solidFill>
              </a:defRPr>
            </a:pPr>
            <a:r>
              <a:rPr sz="1200">
                <a:solidFill>
                  <a:srgbClr val="536173"/>
                </a:solidFill>
              </a:rPr>
              <a:t>The next jump is from impressive answers to finished, usable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CA8B9-06E3-41EA-9494-AB85B431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73"/>
                </a:solidFill>
              </a:defRPr>
            </a:pPr>
            <a:r>
              <a:rPr sz="900">
                <a:solidFill>
                  <a:srgbClr val="536173"/>
                </a:solidFill>
              </a:rPr>
              <a:t>AI Systems That Do Work | 34</a:t>
            </a:r>
          </a:p>
        </p:txBody>
      </p:sp>
    </p:spTree>
    <p:extLst>
      <p:ext uri="{BB962C8B-B14F-4D97-AF65-F5344CB8AC3E}">
        <p14:creationId xmlns:p14="http://schemas.microsoft.com/office/powerpoint/2010/main" val="1590831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2026-06-21T15:23:57.3950000Z</dcterms:created>
  <dcterms:modified xsi:type="dcterms:W3CDTF">2026-06-21T15:23:57.3960000Z</dcterms:modified>
</coreProperties>
</file>