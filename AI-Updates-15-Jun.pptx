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da918f939724363" /><Relationship Type="http://schemas.openxmlformats.org/officeDocument/2006/relationships/extended-properties" Target="/docProps/app.xml" Id="Re7e36ea8906d4808" /><Relationship Type="http://schemas.openxmlformats.org/officeDocument/2006/relationships/officeDocument" Target="/ppt/presentation.xml" Id="R8785c95013d948fb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18dc73f98d8642a8"/>
  </p:sldMasterIdLst>
  <p:notesMasterIdLst>
    <p:notesMasterId xmlns:r="http://schemas.openxmlformats.org/officeDocument/2006/relationships" r:id="R175a91fce3ca4bd3"/>
  </p:notesMasterIdLst>
  <p:sldIdLst>
    <p:sldId xmlns:r="http://schemas.openxmlformats.org/officeDocument/2006/relationships" id="256" r:id="Rdfd6b9adf9bb4412"/>
    <p:sldId xmlns:r="http://schemas.openxmlformats.org/officeDocument/2006/relationships" id="257" r:id="R4181a1a0d5264326"/>
    <p:sldId xmlns:r="http://schemas.openxmlformats.org/officeDocument/2006/relationships" id="258" r:id="R90b6edf65fd64ccd"/>
    <p:sldId xmlns:r="http://schemas.openxmlformats.org/officeDocument/2006/relationships" id="259" r:id="R9f126b57e3984ca4"/>
    <p:sldId xmlns:r="http://schemas.openxmlformats.org/officeDocument/2006/relationships" id="260" r:id="Re0d61d879a9d4bea"/>
    <p:sldId xmlns:r="http://schemas.openxmlformats.org/officeDocument/2006/relationships" id="261" r:id="R2014ea2e89164057"/>
    <p:sldId xmlns:r="http://schemas.openxmlformats.org/officeDocument/2006/relationships" id="262" r:id="R5c828300c07141a8"/>
    <p:sldId xmlns:r="http://schemas.openxmlformats.org/officeDocument/2006/relationships" id="263" r:id="Rf8a1452f508a49fc"/>
    <p:sldId xmlns:r="http://schemas.openxmlformats.org/officeDocument/2006/relationships" id="264" r:id="R4807c94cb5c648b1"/>
    <p:sldId xmlns:r="http://schemas.openxmlformats.org/officeDocument/2006/relationships" id="265" r:id="R3d131ca4d7124657"/>
    <p:sldId xmlns:r="http://schemas.openxmlformats.org/officeDocument/2006/relationships" id="266" r:id="R7ff6711229b1434c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d2cd496531bf4ae2" /><Relationship Type="http://schemas.openxmlformats.org/officeDocument/2006/relationships/slideMaster" Target="/ppt/slideMasters/slideMaster1.xml" Id="R18dc73f98d8642a8" /><Relationship Type="http://schemas.openxmlformats.org/officeDocument/2006/relationships/notesMaster" Target="/ppt/notesMasters/notesMaster1.xml" Id="R175a91fce3ca4bd3" /><Relationship Type="http://schemas.openxmlformats.org/officeDocument/2006/relationships/presProps" Target="/ppt/presProps.xml" Id="Rae75aaed627e4472" /><Relationship Type="http://schemas.openxmlformats.org/officeDocument/2006/relationships/viewProps" Target="/ppt/viewProps.xml" Id="Rb1b1620cdab1424c" /><Relationship Type="http://schemas.openxmlformats.org/officeDocument/2006/relationships/tableStyles" Target="/ppt/tableStyles.xml" Id="Rfcd16bd0755145bb" /><Relationship Type="http://schemas.openxmlformats.org/officeDocument/2006/relationships/slide" Target="/ppt/slides/slide1.xml" Id="Rdfd6b9adf9bb4412" /><Relationship Type="http://schemas.openxmlformats.org/officeDocument/2006/relationships/slide" Target="/ppt/slides/slide2.xml" Id="R4181a1a0d5264326" /><Relationship Type="http://schemas.openxmlformats.org/officeDocument/2006/relationships/slide" Target="/ppt/slides/slide3.xml" Id="R90b6edf65fd64ccd" /><Relationship Type="http://schemas.openxmlformats.org/officeDocument/2006/relationships/slide" Target="/ppt/slides/slide4.xml" Id="R9f126b57e3984ca4" /><Relationship Type="http://schemas.openxmlformats.org/officeDocument/2006/relationships/slide" Target="/ppt/slides/slide5.xml" Id="Re0d61d879a9d4bea" /><Relationship Type="http://schemas.openxmlformats.org/officeDocument/2006/relationships/slide" Target="/ppt/slides/slide6.xml" Id="R2014ea2e89164057" /><Relationship Type="http://schemas.openxmlformats.org/officeDocument/2006/relationships/slide" Target="/ppt/slides/slide7.xml" Id="R5c828300c07141a8" /><Relationship Type="http://schemas.openxmlformats.org/officeDocument/2006/relationships/slide" Target="/ppt/slides/slide8.xml" Id="Rf8a1452f508a49fc" /><Relationship Type="http://schemas.openxmlformats.org/officeDocument/2006/relationships/slide" Target="/ppt/slides/slide9.xml" Id="R4807c94cb5c648b1" /><Relationship Type="http://schemas.openxmlformats.org/officeDocument/2006/relationships/slide" Target="/ppt/slides/slide10.xml" Id="R3d131ca4d7124657" /><Relationship Type="http://schemas.openxmlformats.org/officeDocument/2006/relationships/slide" Target="/ppt/slides/slide11.xml" Id="R7ff6711229b1434c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56eb15aa1b1a417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16b8f0962404085" /><Relationship Type="http://schemas.openxmlformats.org/officeDocument/2006/relationships/notesMaster" Target="/ppt/notesMasters/notesMaster1.xml" Id="R4cec69c8a1644d2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46fdac32a64747d1" /><Relationship Type="http://schemas.openxmlformats.org/officeDocument/2006/relationships/notesMaster" Target="/ppt/notesMasters/notesMaster1.xml" Id="R6bbeb74abfdc47b4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a67fdd1015b4085" /><Relationship Type="http://schemas.openxmlformats.org/officeDocument/2006/relationships/notesMaster" Target="/ppt/notesMasters/notesMaster1.xml" Id="Rc7c36a0eea59415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972b136e47784d96" /><Relationship Type="http://schemas.openxmlformats.org/officeDocument/2006/relationships/notesMaster" Target="/ppt/notesMasters/notesMaster1.xml" Id="Rd1e253064f0746d8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5fa75d6132d47c6" /><Relationship Type="http://schemas.openxmlformats.org/officeDocument/2006/relationships/notesMaster" Target="/ppt/notesMasters/notesMaster1.xml" Id="R50412632be8d430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b27310e89724d2c" /><Relationship Type="http://schemas.openxmlformats.org/officeDocument/2006/relationships/notesMaster" Target="/ppt/notesMasters/notesMaster1.xml" Id="R02ecf20be942439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d671565fdd24468f" /><Relationship Type="http://schemas.openxmlformats.org/officeDocument/2006/relationships/notesMaster" Target="/ppt/notesMasters/notesMaster1.xml" Id="R9bdd97585af244e6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7d171755efc3456f" /><Relationship Type="http://schemas.openxmlformats.org/officeDocument/2006/relationships/notesMaster" Target="/ppt/notesMasters/notesMaster1.xml" Id="Rc67ffd47dc6e462c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7d5649d6379244e7" /><Relationship Type="http://schemas.openxmlformats.org/officeDocument/2006/relationships/notesMaster" Target="/ppt/notesMasters/notesMaster1.xml" Id="R5e50291fbfbe43c2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f8eee6259d54374" /><Relationship Type="http://schemas.openxmlformats.org/officeDocument/2006/relationships/notesMaster" Target="/ppt/notesMasters/notesMaster1.xml" Id="R0440f96b37d7491f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818a808679984cea" /><Relationship Type="http://schemas.openxmlformats.org/officeDocument/2006/relationships/notesMaster" Target="/ppt/notesMasters/notesMaster1.xml" Id="Rf38b725e624b44a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idea that these are not three unrelated headlines. Together they show what personal AI is becoming.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1. PewDiePie releases Odysseus AI: Frame this as a distribution event, not only a product launch. A large creator can normalize the idea that personal AI may be owned and modified by its user.</a:t>
            </a:r>
          </a:p>
          <a:p xmlns:a="http://schemas.openxmlformats.org/drawingml/2006/main">
            <a:r>
              <a:t>2. ChatGPT memory upgrades: Use a simple example: a tutor that remembers your skill level, goals and preferred explanation style. The value compounds, but so does the need for privacy controls.</a:t>
            </a:r>
          </a:p>
          <a:p xmlns:a="http://schemas.openxmlformats.org/drawingml/2006/main">
            <a:r>
              <a:t>3. Anthropic’s $65B funding signal: The learning point is the economics: model quality is tied to infrastructure capacity. Avoid presenting the exact figure as independently verified.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once assistants are persistent and well funded, the next question is who can access them and what they can create.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Present this slide as a bridge: infrastructure gets people online, generative tools let them create, and larger limits let agents complete meaningful work.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4. BSNL + Starlink partnership: Explain that AI access begins with reliable connectivity. The strategic value is inclusion, though commercial and regulatory details determine real impact.</a:t>
            </a:r>
          </a:p>
          <a:p xmlns:a="http://schemas.openxmlformats.org/drawingml/2006/main">
            <a:r>
              <a:t>5. Grok Imagine 1.5 preview: Focus on usability: the winning tools will not only generate a striking image, but also preserve characters, style and intent across iterations.</a:t>
            </a:r>
          </a:p>
          <a:p xmlns:a="http://schemas.openxmlformats.org/drawingml/2006/main">
            <a:r>
              <a:t>6. Claude Cowork doubles limits: Distinguish capacity from intelligence. The model may not be smarter, but more uninterrupted working time can materially improve end-to-end outcomes.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with access improving, the technology stack itself is expanding from digital models into physical systems and direct action.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top diagram as the organizing picture. The three headlines occupy different layers of the same intelligence-to-action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7. NVIDIA Cosmos 3 Physical AI: Clarify that language intelligence alone is insufficient for robotics. Physical AI must predict how actions change the world and remain reliable under uncertainty.</a:t>
            </a:r>
          </a:p>
          <a:p xmlns:a="http://schemas.openxmlformats.org/drawingml/2006/main">
            <a:r>
              <a:t>8. Seven new Microsoft MAI models: The strategic shift is from one universal model to a managed family. This creates more control over economics and user experience.</a:t>
            </a:r>
          </a:p>
          <a:p xmlns:a="http://schemas.openxmlformats.org/drawingml/2006/main">
            <a:r>
              <a:t>9. Send emails from ChatGPT: Use email as the clearest example of agentic action. The productivity gain is real, but a human approval step is important for consequential communication.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next wave makes these capabilities cheaper and more usable at the edge, in media workflows and at home.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This slide should feel tangible. Move from hardware on the desk, to content on the screen, to routines in the home.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10. NVIDIA RTX Spark superchip: Position this as an edge-computing story. Local systems are especially useful for prototyping, private data and workloads with repeated cloud costs.</a:t>
            </a:r>
          </a:p>
          <a:p xmlns:a="http://schemas.openxmlformats.org/drawingml/2006/main">
            <a:r>
              <a:t>11. ElevenLabs Dubbing v2 Alpha: Dubbing is more than translation. Good localization must preserve emotion, pacing and context, and creators need explicit rights to use a voice.</a:t>
            </a:r>
          </a:p>
          <a:p xmlns:a="http://schemas.openxmlformats.org/drawingml/2006/main">
            <a:r>
              <a:t>12. Ollie AI family assistant: Use this to explain vertical AI: the model becomes more valuable when wrapped in a domain-specific workflow and carefully designed permissions.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when AI is close to the user, it can participate continuously in commerce, creativity and navigation across interfaces.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Start in the center with user intent, then reveal the three destinations. This provides a natural presentation sequence even without click effects.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13. Gopuff × Grok “Go”: Explain that conversation compresses the funnel. The critical trust question is whether the assistant optimizes for the user or the merchant.</a:t>
            </a:r>
          </a:p>
          <a:p xmlns:a="http://schemas.openxmlformats.org/drawingml/2006/main">
            <a:r>
              <a:t>14. Google Magenta RealTime 2: Contrast this with one-shot song generation. Real-time interaction lets the human shape the result continuously, which is closer to playing than prompting.</a:t>
            </a:r>
          </a:p>
          <a:p xmlns:a="http://schemas.openxmlformats.org/drawingml/2006/main">
            <a:r>
              <a:t>15. Microsoft Scout autopilot agent: This is powerful because the agent can use existing interfaces, but visual automation is brittle. Emphasize checkpoints and graceful recovery.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these ambient experiences depend on an extensible tool ecosystem underneath them.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Use the pipeline above the cards as the technical model. It connects three updates that would otherwise sound unrelated.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16. OpenClaw + Microsoft MXC: Describe this as ecosystem leverage. The agent framework supplies flexibility; enterprise infrastructure supplies distribution and controls.</a:t>
            </a:r>
          </a:p>
          <a:p xmlns:a="http://schemas.openxmlformats.org/drawingml/2006/main">
            <a:r>
              <a:t>17. OpenAI Codex sites &amp; plugins: The key idea is capability packaging. A plugin can bundle repeatable workflows, making the agent more consistent for a specific task.</a:t>
            </a:r>
          </a:p>
          <a:p xmlns:a="http://schemas.openxmlformats.org/drawingml/2006/main">
            <a:r>
              <a:t>18. HeyGen frame.md video layouts: Emphasize editability. Structured generation is valuable because teams can inspect and change the layout instead of regenerating everything.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 same modular logic is appearing in media generation, model routing and search.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Treat the slide as two studios. The left creates an asset; the right chooses intelligence and retrieves evidence for a larger system.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19. ElevenLabs Music v2: Avoid framing it as replacing musicians. The practical value is rapid ideation and production support, especially when rights and attribution are clear.</a:t>
            </a:r>
          </a:p>
          <a:p xmlns:a="http://schemas.openxmlformats.org/drawingml/2006/main">
            <a:r>
              <a:t>20. Perplexity hybrid inference: Give a simple analogy: use a fast lane for straightforward questions and deeper reasoning for complex research. The system should choose deliberately.</a:t>
            </a:r>
          </a:p>
          <a:p xmlns:a="http://schemas.openxmlformats.org/drawingml/2006/main">
            <a:r>
              <a:t>21. Perplexity Search as Code: The major change is from search as a destination to search as infrastructure. Developers can build evidence gathering into their own products.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these capabilities are now being embedded into open models and the daily tools used by knowledge workers and developers.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Reveal the three triangle corners, then point to the center: daily work becomes an AI-assisted loop.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22. Google Gemma 4 12B: Explain that 12B indicates a model scale, not guaranteed quality. The attraction is the balance between capability and deployability.</a:t>
            </a:r>
          </a:p>
          <a:p xmlns:a="http://schemas.openxmlformats.org/drawingml/2006/main">
            <a:r>
              <a:t>23. Microsoft 365 Copilot redesign: The advantage is context inside the suite. The risk is interface overload, so successful design must make AI available without obscuring core tasks.</a:t>
            </a:r>
          </a:p>
          <a:p xmlns:a="http://schemas.openxmlformats.org/drawingml/2006/main">
            <a:r>
              <a:t>24. Cursor auto-review run mode: Stress that auto-review is not proof of correctness. It is an additional loop that should complement tests and human review.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Transition: open-agent projects are also becoming easier to extend, install and experience as finished desktop products.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Updates 25–27 show three different stages of open and agent-first computing.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25. Hermes Agent Tool Search Update: capabilities are discovered only when needed.</a:t>
            </a:r>
          </a:p>
          <a:p xmlns:a="http://schemas.openxmlformats.org/drawingml/2006/main">
            <a:r>
              <a:t>26. Hermes Desktop App Launch: packaging makes an open agent easier to install and use.</a:t>
            </a:r>
          </a:p>
          <a:p xmlns:a="http://schemas.openxmlformats.org/drawingml/2006/main">
            <a:r>
              <a:t>27. Microsoft Project Solara Preview: a separate Microsoft initiative from Scout. Solara is an agent-first chip-to-cloud platform and reference-device ecosystem; Scout is the autonomous Microsoft 365 agent covered in update 15.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Present Solara as an early platform direction, not a generally available consumer product.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Update 28 is the action slide. Explain that installation itself is not the goal; the goal is learning how an open agent behaves.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1. Isolate: protect personal accounts and files.</a:t>
            </a:r>
          </a:p>
          <a:p xmlns:a="http://schemas.openxmlformats.org/drawingml/2006/main">
            <a:r>
              <a:t>2. Inspect: understand permissions, storage and external tools.</a:t>
            </a:r>
          </a:p>
          <a:p xmlns:a="http://schemas.openxmlformats.org/drawingml/2006/main">
            <a:r>
              <a:t>3. Test: use a bounded task with an expected result.</a:t>
            </a:r>
          </a:p>
          <a:p xmlns:a="http://schemas.openxmlformats.org/drawingml/2006/main">
            <a:r>
              <a:t>4. Evaluate: decide whether the value justifies risk and maintenance.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Close by asking the audience to choose one update from the deck and run a similarly small experiment.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zooming out from individual announcements. These five shifts are the reusable mental model.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Suggested reveal order:</a:t>
            </a:r>
          </a:p>
          <a:p xmlns:a="http://schemas.openxmlformats.org/drawingml/2006/main">
            <a:r>
              <a:t>1. Persistence: assistants gain continuity.</a:t>
            </a:r>
          </a:p>
          <a:p xmlns:a="http://schemas.openxmlformats.org/drawingml/2006/main">
            <a:r>
              <a:t>2. Action: assistants use tools and complete tasks.</a:t>
            </a:r>
          </a:p>
          <a:p xmlns:a="http://schemas.openxmlformats.org/drawingml/2006/main">
            <a:r>
              <a:t>3. Multimodality: more types of input, output and environment become native.</a:t>
            </a:r>
          </a:p>
          <a:p xmlns:a="http://schemas.openxmlformats.org/drawingml/2006/main">
            <a:r>
              <a:t>4. Open ecosystems: users gain deployment and extension choices.</a:t>
            </a:r>
          </a:p>
          <a:p xmlns:a="http://schemas.openxmlformats.org/drawingml/2006/main">
            <a:r>
              <a:t>5. Evaluation: usefulness depends on privacy, reliability, cost and control.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Final message: choose one personal workflow, define what a good result looks like, and test one tool in a bounded environment.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9b9af564ae2444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84d4139bb0b45fd" /><Relationship Type="http://schemas.openxmlformats.org/officeDocument/2006/relationships/slideLayout" Target="/ppt/slideLayouts/slideLayout1.xml" Id="Re314bde747e0416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314bde747e0416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d5660fb02a74787" /><Relationship Type="http://schemas.openxmlformats.org/officeDocument/2006/relationships/notesSlide" Target="/ppt/notesSlides/notesSlide1.xml" Id="R9d8db17741f14156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5ba89830d7467e" /><Relationship Type="http://schemas.openxmlformats.org/officeDocument/2006/relationships/notesSlide" Target="/ppt/notesSlides/notesSlide2.xml" Id="R6c4c910f44a14b0e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0ea345eab1549de" /><Relationship Type="http://schemas.openxmlformats.org/officeDocument/2006/relationships/notesSlide" Target="/ppt/notesSlides/notesSlide3.xml" Id="R873629fcf4e44dfa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dcea818b134cd7" /><Relationship Type="http://schemas.openxmlformats.org/officeDocument/2006/relationships/notesSlide" Target="/ppt/notesSlides/notesSlide4.xml" Id="Rbac163d0c14c494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fe65e79af945d7" /><Relationship Type="http://schemas.openxmlformats.org/officeDocument/2006/relationships/notesSlide" Target="/ppt/notesSlides/notesSlide5.xml" Id="Rc43936d05356437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84bcc141334412c" /><Relationship Type="http://schemas.openxmlformats.org/officeDocument/2006/relationships/notesSlide" Target="/ppt/notesSlides/notesSlide6.xml" Id="Ra40b6167918d42c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9cd624352e4302" /><Relationship Type="http://schemas.openxmlformats.org/officeDocument/2006/relationships/notesSlide" Target="/ppt/notesSlides/notesSlide7.xml" Id="Refbe2a4a9ea8491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d997aea84fd462c" /><Relationship Type="http://schemas.openxmlformats.org/officeDocument/2006/relationships/notesSlide" Target="/ppt/notesSlides/notesSlide8.xml" Id="Rb4755efbcc3348a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92264bd75c4c8b" /><Relationship Type="http://schemas.openxmlformats.org/officeDocument/2006/relationships/notesSlide" Target="/ppt/notesSlides/notesSlide9.xml" Id="Raf919f0649df4241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dc859d9124b4d7e" /><Relationship Type="http://schemas.openxmlformats.org/officeDocument/2006/relationships/notesSlide" Target="/ppt/notesSlides/notesSlide10.xml" Id="R827e5263afaa469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78dd120ddd4b66" /><Relationship Type="http://schemas.openxmlformats.org/officeDocument/2006/relationships/notesSlide" Target="/ppt/notesSlides/notesSlide11.xml" Id="R2267bc877e76472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E5E70EC-0102-4B84-9AD0-CA158BD8D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2A404B8-704E-4376-B36D-61B1434FA8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9B6315-CF40-43A4-AE46-A96EEA0AB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UPDATES 01-03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74EE6C3-D569-4BDB-A202-A084720E3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Policy shock, capital spectacle and founder-led AI ambition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FEA38CB-733C-455A-9576-2FC21FB3FD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video opens with three large claims: a Claude access ban, a SpaceX wealth event and Bezos returning to build AI.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F3CA7E2-2A94-4E56-9F93-6A3497287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441EF1D-119A-4786-A2EB-1056366EBE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6295F2E-736D-4578-B635-A2256B7F7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954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D4D61D6-A440-4AF4-A33D-A0355FE3F6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3333750" cy="42481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3E1E6FD-4D1D-4A1D-9CD0-D5EA22BA2F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81150"/>
            <a:ext cx="47625" cy="424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1623D37-6592-4C83-B22F-70244F82F9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240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C17BD42-FC42-47A6-9FE5-57DAB35A0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73A2D7D-4A0B-4563-9333-B38E5CB7A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526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DC38EB6-31FC-46D8-A592-94CF4CD9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145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Fable / Mythos Ban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D7EE0C0-AE81-41E7-93BE-7F3A2D7EA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907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6978357-B152-4790-A366-02E0EB8E7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6220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says US authorities pulled two newly launched Claude variants offline and restricted access.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D689D90-E8B0-475C-A2A3-D65594026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0DE88EB-85CE-4CE7-903D-FD4CF75C7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2133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governance can move from policy debate to immediate product availability and geographic access.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0D62151-78E0-4629-B6F3-092D2DB55B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848FE2E-573B-4733-90A9-8245D03AF8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023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VERIFY: Treat the ban details as video-reported until confirmed by primary sources.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098E16F-CF5D-4643-8649-365E6C0FEB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19812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6DB750-6264-4E97-8A56-7CC622D8F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3333750" cy="39624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D981A5-E32C-46B2-974F-D744EFF851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866900"/>
            <a:ext cx="47625" cy="3962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A19D5-B3F4-4857-9A5A-D15D86CA4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0097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9C67EE0-A3F4-450A-92E6-1860950C5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ED970F1-9491-4677-B198-09BD1F06C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0383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2D172E-D576-40CF-9C48-BFD0555B3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0002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Musk and the SpaceX IPO Story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B72892-B3A4-497C-9B2F-CD6CE7C93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4765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96BB438-204C-4B05-8D6E-3A4791E9F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647950"/>
            <a:ext cx="295275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13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013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proposed SpaceX public-market event is presented as the catalyst for Musk becoming the first trillionaire.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C7E30F8-8914-4395-8414-AB106C6EA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3242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4959155-AAEE-40F5-8511-D32093AB0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95675"/>
            <a:ext cx="2952750" cy="1847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94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94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AI, space infrastructure and capital markets are increasingly tied together in one founder ecosystem.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2A0C3067-7DDD-4204-B9A1-5B066161E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25A05F6-3078-4F59-8D21-72415BE18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689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IPO timing, valuation assumptions and whether wealth estimates are realized.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62EEF4D5-23F0-4CE0-B70B-D54C62DBA9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2669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D8CD6508-FEBF-457A-9B41-787A0D672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3333750" cy="36766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94090B2-6D43-4F1C-AA66-D4C04B063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152650"/>
            <a:ext cx="47625" cy="3676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8DDE232-978C-4661-A47C-19BC72AF25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2955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F5930B4-8120-4FC7-916D-D5F9ED6EA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19DCF53-23A3-4E1A-A0D5-20CB709782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3241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D627ADB-4765-4D88-8071-4DA4FDC9C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2860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Bezos Returns with Prometheus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D58F9CCF-3967-49D3-9BB7-966A331AE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E373713-85CC-40BB-B30F-B82C806D7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9337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roundup describes Jeff Bezos leaving retirement mode to build a new AI startup called Prometheus.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6D77482-FCCC-4BEC-8F3A-04C2A9695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448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9406D1B-9434-4E3C-92A3-4308757B1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19500"/>
            <a:ext cx="2952750" cy="17240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Frontier AI is attracting experienced founders, deep capital and a new generation of competing labs.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AFB2975-5D54-4B3D-8607-F4E40BFB9C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2925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C78B566-AF88-4195-800A-987CF770E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3877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659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Team, technical focus, funding and an official launch announcement.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C06A37A0-CFC7-42A3-8A97-E7DCE5960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381125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1D05118-FB60-40F3-9F3D-E66F3F54C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00200"/>
            <a:ext cx="685800" cy="6858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53FCD96-A964-4AEE-8E89-2B15C00855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5A913E7-DC7A-4E14-A95C-C01424606D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Opening arc: regulation -&gt; capital -&gt; new competition</a:t>
            </a:r>
          </a:p>
        </p:txBody>
      </p:sp>
    </p:spTree>
    <p:extLst>
      <p:ext uri="{BB962C8B-B14F-4D97-AF65-F5344CB8AC3E}">
        <p14:creationId xmlns:p14="http://schemas.microsoft.com/office/powerpoint/2010/main" val="288614934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FFBD7AA-C731-41CB-A414-1C4947246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2F397D9-A2AE-4FE8-BD4B-F3B79F635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8C58D00-6A46-43FD-B0B2-B573270FF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UPDATES 04-06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73C9DAC-6E3D-4AAB-99CA-8E3A6A01B0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assistants move from chat toward work, voice and live translation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8076223-7536-4F02-B170-C6150C9C05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Kimi, Apple and Google each target a different bottleneck: completing tasks, rebuilding the assistant and crossing languages.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867521-84A7-4AAA-9BB4-1DAED8D8F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299006-89EE-4C49-B9DB-2231F7BE8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4C1FC7E-37A5-4A83-84A0-1C3B3387F4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111410">
            <a:off x="1428750" y="5286375"/>
            <a:ext cx="9744056" cy="76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0DB3419-739B-47E1-A650-C090375FB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9815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700C88E-D143-4152-BEF1-431A1D6F5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1857375"/>
            <a:ext cx="685800" cy="6858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A441083-D6E5-4D35-92CF-3BDAB1344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57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440D80B-0370-479F-90DD-D60832E61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E7A8086-6E2E-4407-8940-93EF139CF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7430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BF5276E-AEFD-4712-B362-0F0F2102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859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CE42DF-BDCA-4834-BEB6-8B188775CE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9B05666-9FA8-495F-BCA6-431F52FE23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9145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8839B30-A99A-448A-8CDC-1D611B47D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764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Kimi Work AI Agent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1CE367B-42C6-45AB-9623-B422A51D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526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B188753-DFA0-4A49-9CC7-3E91E5943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241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 Chinese AI work agent is shown handling research and document-oriented tasks through a guided workflow.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A29D78-23D7-48DF-8DCF-5BD8D06990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0384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15D890-C023-49B5-BB43-5EF68AC62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2099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Work agents compress multi-step knowledge tasks into one request, but require careful permission and data review.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DA9B5A3-E032-47DC-B670-055E0B4A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981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000A936-E459-4F33-8766-7D9F5D8EA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991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522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Data handling, regional availability, export quality and free-tier limits.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539F4BC-0BCA-4FD9-9D85-DA50BE89B7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21050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DD97AC-65F7-40D1-9271-71A5217F82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7916E29-8F18-4EEC-BA45-335E3D3BF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9072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C06DFE-86A7-48BF-812D-DA9FBF9E2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21336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845FCD79-9327-4B38-88CD-1853FC7A9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8D764A9-3E8B-4F97-B53B-0EDD4F374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21621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28A55F74-D087-4B22-B476-2EAA2E3F50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21240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Apple Rebuilds Siri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1887C86-1D8D-4119-B62E-AD1D6260A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26003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FB6DD10D-C77B-4103-B067-884EEF3A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7717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Apple is described as rebuilding Siri around modern generative AI rather than extending the old assistant architecture.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4DECC1D-41B5-4DA5-9DA8-BDA4F0B8F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2861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5FA0D46-79AA-4C5D-8567-5854680E19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45757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stronger system assistant could coordinate apps, personal context and actions across the Apple ecosystem.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50BA9BA-EBF9-40B5-B0B5-852699DEC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2922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879ECE6-C9E1-4823-A3D2-978120419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23875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2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Release timing, device support, privacy design and what runs on-device.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92BAC5DB-FEBD-4412-AB9B-6F79F9C1D8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3526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3355008-285B-4D45-9CBB-1D1158CA3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3333750" cy="36385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9D358D-9B01-4AA2-8030-7AB007C23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238375"/>
            <a:ext cx="47625" cy="3638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FACEE1E-1CCD-4AC9-94F9-ADE10D79D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38125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41175FA-6B6E-40E8-A855-52D33D4E66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55D5551-2944-4C8C-AF57-5035EAD2A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40982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6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B1BE1216-7FAD-422F-8254-703267A1E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37172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Gemini Live Translate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6022FA-5949-4A68-9732-8375D5F7E3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4797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FF9274F4-9B4D-45A8-BFEE-3991DBA69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1942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Google Gemini adds live translation designed to make cross-language conversation more immediate and natural.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7B53BDA1-2A3F-4398-BF19-9D5E6E0196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337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D511E5B0-52C2-4AA4-B329-4CA2DCF02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705225"/>
            <a:ext cx="2952750" cy="16859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Real-time translation turns language from a hard barrier into a software layer inside calls and daily communication.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FA3DC7E-B143-4A0C-8FE7-0AE4A6B702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768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8906E72-EE81-46E0-9566-324B8513EE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4864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0002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Language coverage, latency, accents, context retention and offline support.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A00B7701-4FE3-4E60-BBE5-424A2DB41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65F80B4-CF80-48E3-BB9E-3B73B156B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Three interfaces: work agent -&gt; system assistant -&gt; live conversation</a:t>
            </a:r>
          </a:p>
        </p:txBody>
      </p:sp>
    </p:spTree>
    <p:extLst>
      <p:ext uri="{BB962C8B-B14F-4D97-AF65-F5344CB8AC3E}">
        <p14:creationId xmlns:p14="http://schemas.microsoft.com/office/powerpoint/2010/main" val="1425256720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CE27C46-7E2D-4E9C-9875-17455541A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0F4888-04E1-453E-BC52-726618BF1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28BFB4A-CE55-4436-A0DB-292A74E53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UPDATES 07-09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8242112-2081-4FB2-AD94-64DF31D63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assistant becomes a visual workspace embedded inside other products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8444340-E4AE-47F2-B9CB-09F7B8AAE4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Charts, Canva and an Apple-Google model deal show AI moving closer to the artifact and the operating system.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983C30D-47C3-4756-ADEF-5C3C4F7BF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58783CB-B9E1-4E3D-BEDB-B8E7E48B1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03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55CAC78-500D-4912-8023-BA6937FE0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811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21698E4-2FE2-4575-8415-D3DFB49A3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FE2817A-B9AF-4508-AE74-7C322D3A3F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72625" y="1695450"/>
            <a:ext cx="1190625" cy="8763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880E5DA-7658-4751-B5D9-6827D73FD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257175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DB664C7-8B91-414C-9DCB-B319AB9278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471841">
            <a:off x="6667500" y="2133600"/>
            <a:ext cx="2905125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13A1F15-2B30-4240-BD0F-51F76CF2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DATA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E2D6DCE-A0D1-4C31-AC38-9D2BECD87A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DESIGN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2AB9915-8A46-4A12-8179-784832C59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71750"/>
            <a:ext cx="1143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2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SYSTEM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BC863F-616B-4C18-90DF-7B639B359B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13DAA1B-999C-4D0A-86C9-8245AF2FC5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557FE5E-E07C-498D-BFA8-D0A67A7030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08E8DD1-69A7-4C16-9234-6B8AFEB02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4AFC840-FB8C-4215-BE44-35ED05D65A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CA07C6-A99A-4508-8FE2-86E732C623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7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BAD0901-D33C-43E1-84FA-BA0C666570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Interactive Charts in ChatGPT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8E14E49-D073-4846-951A-E064C37C0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7DFEF4E-2953-44E8-89C7-170366AD4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ChatGPT can turn data into interactive visual analysis instead of returning only prose or static tables.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765BCCD-506B-4652-8E65-B74AD102B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21BBDA1-81B8-48C9-99F7-6A27090C88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conversation becomes an exploratory analytics surface where users can question and reshape the evidence.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17C8107-00CB-407C-B3D7-60D715A6A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C8EB76B-A0B5-46DD-A10A-951467AB2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6BFFEDE1-E6C4-42D6-BAF3-D73F0FEF3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726B67F-3D61-4D90-ADB0-F05D6551CB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CA429F0-A92D-47D6-BA0C-0CFA37F83A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E4F17B79-E6E8-4335-8E1F-88B9F0848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8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4F7FFBF-9054-47B7-B97F-183880EA8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Canva Inside ChatGPT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A0BF520-ABCF-4CC3-A3E9-95F93AE752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338C1DC6-99BC-4E88-B2F8-A7A31C5B46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Canva capabilities are presented inside ChatGPT so a conversation can flow directly into editable design work.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092C824-1387-490A-ACA5-88DE739967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7A88A91-54E5-4937-81C4-702C49A81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AI becomes more useful when outputs remain editable in the specialist tool people already use.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795A10-5AD4-4D23-855C-FFD8B49B97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099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D8A994E6-1E39-4C44-835F-B5BE0F9F3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3333750" cy="20288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215677C-4E0D-4AB0-B361-A14090DF75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095625"/>
            <a:ext cx="47625" cy="20288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CA1B7B50-8DF4-4947-A421-0CBCFE038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38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418EA0-0279-4AD3-A540-1D89B8453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796B3FA-9965-46D6-A986-4FD80BCC5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267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9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73E7223A-CAD3-4215-A24E-84314A2230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28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Gemini Powers Apple's Siri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833354A8-CF3D-4B5C-86FD-DC11C66B0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05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7299CC4-5E11-4C4E-A4FB-A0058F09B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76675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reports a deal in which Google's Gemini technology supports Apple's next-generation Siri experience.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AA065E90-17C9-421E-A65B-1EC29A19D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100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725EF349-E7F4-46B5-9166-3C3E01FD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81500"/>
            <a:ext cx="29527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Model providers may become infrastructure suppliers behind branded assistants rather than owning every interface.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BD867754-CFCE-447B-9291-E2552E8306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0E9CABCD-D6CA-4FDF-BB7A-45B0504EE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System view: analyze data -&gt; create design -&gt; power the assistant</a:t>
            </a:r>
          </a:p>
        </p:txBody>
      </p:sp>
    </p:spTree>
    <p:extLst>
      <p:ext uri="{BB962C8B-B14F-4D97-AF65-F5344CB8AC3E}">
        <p14:creationId xmlns:p14="http://schemas.microsoft.com/office/powerpoint/2010/main" val="668906435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8450BD-C7A0-441E-A073-279EE6A2C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D65933-732D-4E28-9654-34FAB3BAB4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C2F3AC-7414-4166-9529-BA8F55359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UPDATES 10-12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B3184A1-77E1-4DF7-9BC8-405A8B6F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Creation tools absorb the web, research becomes agentic and photos become editable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2DA5A4-1DD3-4BDE-900B-B73F17F30F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common shift is direct manipulation: capture a reference, investigate a question or change an image with intent.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3929701-977F-44DC-9869-603F0C17E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E3177F5-B3E2-4AB1-ACD8-0F391082C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04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F610FB-E989-40E7-84EA-43C67A8FB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19250" y="1600200"/>
            <a:ext cx="1000125" cy="78105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6CA230-55B4-4434-876B-F84F431DF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1638300"/>
            <a:ext cx="11430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DA7B015-29FC-4EC5-9A7F-ADAE42164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1600200"/>
            <a:ext cx="781050" cy="781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2783176-3F29-41F9-88CF-D419F4734E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76375" y="2362200"/>
            <a:ext cx="128587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8796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WEB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TO DESIGN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B0657D-F449-42B9-BF5E-D9743169B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67300" y="2362200"/>
            <a:ext cx="20574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6862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RESEARCH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AGENT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7EF87EB-C1D8-470E-99FA-D70D1111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24100"/>
            <a:ext cx="10477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803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PHOTO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EDITING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5B9C840-6F72-4F5F-9FCA-81338E53B0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3D5ACEB-7A70-4A25-95C7-611963C62E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54AE1E2-A817-4147-9847-9EF4D05D3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D75467E-988C-44F0-A1C7-BA055ACE8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D1A431F-9B54-4D56-8702-01FBC86C45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001CF1-61B7-4F67-9098-B082D366F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1C3D271-229E-436B-80E0-502D3BACEC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Figma: Website to Design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B88E45B-3203-49AB-8711-A2C893B95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3D47BC-EC0F-4D26-AAD7-B00ED8398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Figma can use an existing website as a starting point for an editable design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D7AD362-FD06-482C-9718-6D33027B91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CC42E94-049B-4107-8149-9F9674697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Design teams can move faster from reference and audit to reconstruction, iteration and prototyping.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BA400D8-6B9E-4921-998F-9BDC5872E2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906434C-A021-4EC6-981E-39D780459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643C8A3-6B67-440D-91A8-5917E7EE2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5C9395-DAA0-4DDF-94C8-82E93BEEE8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21148E-A068-44F6-9146-25321E0B2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5CB7051-FC1B-4456-B34E-2CA766108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339C811-CC15-41B6-A566-72D0D63797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NotebookLM Goes Agentic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374F069-4041-4D12-9660-FE3936D9C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31A6AFCD-CA48-415A-A6F2-8703D2B0B6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NotebookLM is described as moving beyond source-grounded answers toward multi-step research assistance.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B52C2012-56D1-4126-8893-23DBCF4A3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9EC6F6E-8BD1-4D95-864D-D9291D661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Grounded agents can plan research while keeping the work tied to a defined source collection.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FC662F31-7690-46F1-AE87-C4EE88A0EC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0194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909C10C-5662-4E00-B072-07F8FEED6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3333750" cy="2238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5002F116-21B5-4A69-831E-2F58510E3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905125"/>
            <a:ext cx="47625" cy="2238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6227622-B7D8-4EC8-84DE-CCEF9A043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0480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447EFE8-BA90-4861-BAF7-5746A7597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7A31BCFB-C0C1-4B19-B9AE-DBD8C863A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076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12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915D73CB-C76F-4FFC-AE11-2AFA3BC7BD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0384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 Editing in Apple Photos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511808B-B62B-421A-8C96-2CEF57085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514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022961D-5233-4EEF-A5D5-36C3D15F6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6861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Apple brings more generative editing into the Photos experience for everyday image changes.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EE82F95-F061-4615-8FD5-DE96040D1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2005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B6BAE61-C4A0-4B84-90FF-50319CB28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371975"/>
            <a:ext cx="2952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Advanced editing becomes a normal consumer action instead of a specialist desktop workflow.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3E3464BC-6B4F-4340-9044-CE12DADCD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EFF1F8A3-6EFB-41CF-BA20-8873DB4B7C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Direct manipulation: reference -&gt; investigate -&gt; revise</a:t>
            </a:r>
          </a:p>
        </p:txBody>
      </p:sp>
    </p:spTree>
    <p:extLst>
      <p:ext uri="{BB962C8B-B14F-4D97-AF65-F5344CB8AC3E}">
        <p14:creationId xmlns:p14="http://schemas.microsoft.com/office/powerpoint/2010/main" val="344266447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0C453E5-1673-4EFE-86CF-AA7157ADCD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F618174-6AE9-4EDD-BDC5-9238EAEB50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305FD0-5A7D-4AD2-AE5D-A62E11100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UPDATES 13-15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FED28A-747D-42F9-9691-91A5E6325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Coding agents gain continuity, project rules and automation infrastructure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4FAB715-90B1-4EDF-BC92-810CC9E79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OpenAI, Replit and Hermes focus on the less glamorous layer that makes agents dependable across longer work.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2539B8-3860-44B7-A497-44053504A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D4A7B58-BAD8-49AD-8D97-217C9245D7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05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2645F2C-7705-4DC3-9ED4-F397C373F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866900"/>
            <a:ext cx="3695700" cy="3695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B1E10D-3FB0-41DE-B688-F39355C6B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2809875"/>
            <a:ext cx="1809750" cy="1809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2B25BED-3B74-4F63-827C-C24DCAD2D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95925" y="3429000"/>
            <a:ext cx="12001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CONTINUITY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B0BB49-1C1B-459A-B188-6C794D718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9887855">
            <a:off x="6076950" y="3143250"/>
            <a:ext cx="3632311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02C84FD-D56C-4C78-ADAD-3E9778CB83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396374">
            <a:off x="6076950" y="3714750"/>
            <a:ext cx="3857143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1F32AB80-24D0-4DB9-8555-0929ED02F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945729">
            <a:off x="6076950" y="4286250"/>
            <a:ext cx="368174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B0F89A1-7619-411E-9341-63B6C5DCD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D7F3AC0-CC39-4647-AC7E-9F9C2F3AD1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96B213F-9683-417F-A89F-858332F86A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A02AB45-0E16-45D3-9AB3-5D43BC32C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03D2ACB-6579-4DE1-88A9-8D292532F4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ECD7961-FF16-4013-BE15-AFDA72D22A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ACD8F3B-DA9E-4A34-9D8C-043A23754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OpenAI Codex Banked Resets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1FF544-ACA2-48B0-B02A-885C8752B6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1E43A3-6169-4242-97ED-35194FFB8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highlights a Codex usage change that lets capacity or resets carry forward more flexibly.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DC0ECA0-3673-461B-B587-005D42E30D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F2A6BF3-6EB9-494F-8E9C-8F704B8BBD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Long coding tasks need predictable capacity; interruptions can break context and slow review.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6B80959-F453-4305-90BF-81F8DA6D8D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573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F55919A-FEFF-450E-9BE2-585B3A0FE1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4AC7939-2961-476E-8752-17E83E546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4305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BDDBA95-6770-4719-BB98-9F34F9BA66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6859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5686D8-C14F-40B4-B85D-D4CF67E93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0C8A02A-0F7E-49B0-B4E1-5E153E60F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145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14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747908CD-4607-43ED-B980-D0CD60DB42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6764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Replit Custom Instructions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4379AD9-6FF5-44BB-8C98-A18D7E9FC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526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8B66AD50-E92E-473F-8EC6-1B3AC768CB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241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Replit adds persistent project guidance so its agent can follow preferred conventions and constraints.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829CA07-E626-4638-85B5-F2C16FF7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56BB9CD-0156-4A49-B5F3-7A9094EADF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0990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Stored instructions reduce repeated prompting and help generated changes fit the codebase more consistently.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8F342F3-BE2F-406D-8BC1-5A33B498D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41148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D20E8D59-D228-4A6F-9915-2C6C6B0A1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3333750" cy="2228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967F270-BDF0-42A8-A88F-97716D465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4000500"/>
            <a:ext cx="47625" cy="2228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0B70130-1FE1-47E3-991F-12CD890C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14337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CE040429-D74D-4926-9A0C-37BB8CAA82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A830408-7141-4F4C-A027-5CAD132172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171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15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805F6067-882C-45BD-B538-07DA8BF488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413385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Hermes Agent Automation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C4A32D8-F844-4D78-9462-75E6EB5FD7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610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9D59087-CB7C-4E92-A6C5-EBB760E1D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78155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Hermes is presented as an open AI agent that can automate recurring work with tools and scheduled execution.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B004F30C-3FFB-45E8-95CC-8712E1FEDC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5295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BB61166F-718F-4159-B709-BB8E81AA5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467350"/>
            <a:ext cx="2952750" cy="6381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Open agents become practical when setup, tool discovery and repeatable automation are easy to control.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7B2CD0B-96BE-41F0-8FD2-E92A9979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114800"/>
            <a:ext cx="3333750" cy="1476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59FC9C4E-5AA6-48EB-A99E-AC35B34048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4400550"/>
            <a:ext cx="280035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ONE PROJECT CONTEXT</a:t>
            </a:r>
          </a:p>
          <a:p xmlns:a="http://schemas.openxmlformats.org/drawingml/2006/main">
            <a:pPr algn="ctr">
              <a:buNone/>
              <a:defRPr sz="142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42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THREE RELIABILITY LAYERS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C48A6078-6504-46C3-A8D2-5A68B60713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048250"/>
            <a:ext cx="276225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Capacity - Rules - Automation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E028860-BF9F-406A-948E-DF1C3FEF7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2134FD5-384D-4484-A9FE-EAFABB5C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Reliable agents preserve context, follow constraints and finish the loop</a:t>
            </a:r>
          </a:p>
        </p:txBody>
      </p:sp>
    </p:spTree>
    <p:extLst>
      <p:ext uri="{BB962C8B-B14F-4D97-AF65-F5344CB8AC3E}">
        <p14:creationId xmlns:p14="http://schemas.microsoft.com/office/powerpoint/2010/main" val="623022380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7B0E944-A937-4CD2-970A-6C5972C98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B1C4581-1F3E-494C-B2CC-FC61F01BD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D87F4A-FFCD-430A-8BD4-2AE70BF96E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UPDATE 16 + DEMOS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78B271-EF04-449C-931F-FFFF8AEEAA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AI-generated media becomes an editable production workflow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3B643B3-CC89-4428-8582-43E8604497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final update and tutorials show models moving beyond answers into video production and complete work artifacts.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2BC542-CA57-4D9F-A02C-7F8F61EF6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060623-F8EB-4C31-A40B-F67A3FAEC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4F0080-0B26-4EE8-91AF-68B30B821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020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241A63-9019-415B-ABDF-C4D8691895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3028950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59EEBC-2710-48CF-AD75-4464E2220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11D3574-1B32-4D04-8C21-E1789D3A7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6619875" y="2228850"/>
            <a:ext cx="216217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D458F9C-7821-431B-9DC1-70EA8779B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657350"/>
            <a:ext cx="1428750" cy="1143000"/>
          </a:xfrm>
          <a:prstGeom xmlns:a="http://schemas.openxmlformats.org/drawingml/2006/main" prst="cub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63BDB07-B937-4218-ABEA-A7C96C31AA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5730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B02B041-8B70-4C9C-A21D-55B9ADC70B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48225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F8D972F-EC35-43F6-9330-B833863A00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028825"/>
            <a:ext cx="1524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OUTPUT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8A8FFE-3122-4055-A747-0764BE7C53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907E51A-71C7-41B5-B57A-ED4CB45269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5FEAB85-1254-4F3C-A683-8FD4DE64B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00869E-C129-40AF-A65E-8C82E001E8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4632CB3-8D14-4080-AF0F-9E4B8F9FA6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760FF77-6F30-4193-AEE2-14B77862D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16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93A6DF26-C098-4760-9815-E6B502E16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Video with HeyGen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725D11-2347-4AC0-ABF3-3A7EB5196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13511C-2CE7-4343-A5AA-C7AEBC4BD1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Claude and HeyGen are shown working together to turn a prompt or script into generated video.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020DEE00-5723-4F6C-B290-4D9B3E0471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1803421-3102-4BC9-9A1A-FC17BE1D7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Text-to-video workflows can connect ideation, scripting, avatar delivery and editing in one production chain.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D3044C3-2FD5-4D44-B6C6-38974A59D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4FFEF02-70CC-40A0-A7A0-F4EAAAEAC8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WATCH: Consent, disclosure, identity rights and visual consistency.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5460757-F4FD-4253-9866-8B428621A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11EC6EA-5274-47D6-A0A6-78EE5EDC0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BF57D252-8016-4D21-888D-10A56E7F1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45720E1-76B1-405D-B633-C458FF015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B2544A4-F326-4A70-9672-5319A2D6F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CF791A2-E822-4DBD-94DA-5852FD84F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D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B60979BF-0AF4-484A-BE03-A405162584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Kimi Work Full Tutorial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C1C2F9BB-6145-4B17-AA20-8214BF1FD6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E8D60A03-52B8-4660-916C-358D3B3246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closes with a practical walkthrough of Kimi Work rather than only listing product announcements.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235DE1EE-DB61-492D-9560-08378F7DA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E32DBD9-417F-4291-AE94-79467BC291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Tutorials reveal the real friction: setup, permissions, source handling, revisions and export quality.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A530FF6-57EA-415E-B2FE-1FA3487E17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5EBE58A-DEC9-4ADA-9106-D2001C145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92927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WATCH: Use non-sensitive test data before trusting an unfamiliar agent.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613404D-1C4D-4C32-9E13-3419E80B79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32575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024F433-D421-43F7-B013-57749E278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3333750" cy="30003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6658F9AF-4515-4C8C-8FBB-5E8691DD5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3143250"/>
            <a:ext cx="47625" cy="3000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EDCC8CD-2EE4-4BA4-8E9D-D429E9D26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286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CB7FCBB-C8BB-4703-BA1E-F6EFD9D303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7C17757-64B4-4880-A7A0-B4117D9B8F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3314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M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A42E830-074D-4056-B365-B3CA990068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3276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Video Itself Was AI-Made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E9F8A401-7A6D-4300-9449-A78C6F6EC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752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7F6BF9DF-84A0-4FE3-A27A-DED10C82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9243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YouTube labels the video's sounds or visuals as altered or generated, and viewers noted the synthetic avatar.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669082C-232B-403D-8E92-DD620F43E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44386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2AB9578-9F29-41E0-B93E-62491189C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610100"/>
            <a:ext cx="2952750" cy="1047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medium demonstrates the update: AI can now produce a complete presenter-led news video at scale.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419F1EAB-0AAE-42E2-8DCC-7C2F7C445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5743575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ECF2637-2108-480B-9FDE-E83C4A284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5753100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WATCH: Clear disclosure and human review remain essential.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BD8492D0-8307-4C06-8EC2-F8474B143E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5A13A841-73C8-4BCA-A629-87E15618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Production chain: script -&gt; agent workflow -&gt; editable media</a:t>
            </a:r>
          </a:p>
        </p:txBody>
      </p:sp>
    </p:spTree>
    <p:extLst>
      <p:ext uri="{BB962C8B-B14F-4D97-AF65-F5344CB8AC3E}">
        <p14:creationId xmlns:p14="http://schemas.microsoft.com/office/powerpoint/2010/main" val="50818339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E26E142-6C90-447F-A18A-6A933203E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4253222-6A8A-42E6-9C64-2154C4AB0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E80B932-1C68-400C-98E7-5D4EC39CF9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WEEKLY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B0BA8A-4C89-4386-B725-0E2BC5B45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week's real story is not 16 features; it is a redistribution of control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3C9E460-1294-4120-A888-9A309DF8BB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Government, model labs and product platforms are all deciding who can access intelligence, where it runs and what it can do.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4AF647-2539-4C26-9CF0-9111CF2040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C45A733-2350-48E4-AF3A-1705CE9BD1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07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D46710F-50CC-49A5-888D-A3598EFFE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098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AFADD24-192C-425A-A61F-DCB85204E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619625" cy="23241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B591C1C-E72D-4DF7-AC7C-B848EE0AB4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95500"/>
            <a:ext cx="47625" cy="2324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4C3D18E-8308-494E-ADD6-952C8DFBD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38375"/>
            <a:ext cx="4314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57071BF-4D78-41EE-B694-630354A1BC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07798D69-AE2C-4FC0-AF9F-9B02A08E00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26695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D8B2820-45F8-438B-9A57-EA7F7CFE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09700" y="2228850"/>
            <a:ext cx="3838575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Governments Can Gate Access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6931366-139B-46AE-8420-6CD2ADA75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70510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869C2CB-40C8-4671-8CC1-C997E873F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876550"/>
            <a:ext cx="4238625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Claude ban claim frames frontier models as regulated infrastructure rather than ordinary software.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4974DD9-05C6-4C1C-A499-6891CF8E0D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339090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D660100-6F0C-4D67-A0A0-9E50EC81AB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562350"/>
            <a:ext cx="4238625" cy="733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Access risk now belongs in AI adoption plans alongside price, reliability and vendor continuity.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CC37028-D78E-4A71-9F2E-E483A3CDE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2574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78EE7C6-D908-47E6-BDB7-D2AB5425F0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5219700" cy="1762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55889F5-88C2-4656-973A-1A426F19B0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143125"/>
            <a:ext cx="47625" cy="1762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C4DFC9D-0CCB-4A37-A3D0-49AF4910B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2286000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E44BBD6-5008-4DC6-B453-05419E74FB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D1A44BE-5635-4285-8FC3-FD5E50828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23145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B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3177B44-76DA-4383-AA7D-FDF03CBC4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276475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Platforms Embed the Model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4C9CB21F-6C57-4F16-ACC2-7237A8A7D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27527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F748876-14CB-4EC0-9F42-1B6F3E2CAA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924175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Apple, Google, Canva and Figma show models disappearing inside familiar product experiences.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ABFD79C9-EE36-4250-9F5E-DECA91E8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2575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0C654D5D-FC87-4D49-A256-CA0EE0093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3429000"/>
            <a:ext cx="4838700" cy="3524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Distribution and workflow context may matter as much as raw benchmark performance.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5406B49D-94AE-4F73-B96A-ECC7E0EDC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42100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5F52DB95-F74E-4663-A8E2-66E7136D12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5219700" cy="17049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9BD5E2FA-12E2-4A3C-BF2A-37ED9CF6F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95750"/>
            <a:ext cx="47625" cy="17049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FE402073-5AAC-4894-A157-86ED62AE5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4238625"/>
            <a:ext cx="49149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F4F17650-F505-4A74-A5A4-17479D68B9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2D03FB3-4D15-47FD-B24D-D0DA957D0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42672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C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A354CE7A-D12B-4764-8A76-32279378A2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229100"/>
            <a:ext cx="443865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Agents Own More of the Task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4F57CA18-E2B5-4593-891B-9750D1D276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7053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885ACA9-DDDD-404D-8A1E-0F86072B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76800"/>
            <a:ext cx="483870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Kimi, NotebookLM, Codex, Replit and Hermes extend from assistance toward planned execution.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FF566C1-6DCF-474E-A21D-DCA01923B2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2101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1D669A0B-2DC9-4D4C-9688-6631F0ACE3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5381625"/>
            <a:ext cx="4838700" cy="2952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key design question becomes where humans review, approve and stop the agent.</a:t>
            </a:r>
          </a:p>
        </p:txBody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D191CD33-BB30-4A4D-BB74-F8C4BC1FB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4191F3E-8972-4E8C-924E-34F560D31E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Control stack: access policy -&gt; embedded interface -&gt; delegated action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09FFFC25-A45B-444C-A8F6-8CD0DBA40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14625" y="1619250"/>
            <a:ext cx="1476375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23CD2357-0D97-444A-BF99-4768E786E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1657350"/>
            <a:ext cx="1343025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GATE ACCESS</a:t>
            </a:r>
          </a:p>
        </p:txBody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A59835A-8EA0-4055-9684-3961EC0F3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3387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A9D91392-4612-4E6A-8763-CBB8848FF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2991B4B3-4AB2-43DE-BB54-ACF4491E4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967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EMBED MODEL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7D45D30F-8AA7-4250-8AF0-E850571063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1666875"/>
            <a:ext cx="514350" cy="228600"/>
          </a:xfrm>
          <a:prstGeom xmlns:a="http://schemas.openxmlformats.org/drawingml/2006/main" prst="chevron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5A4906-5B63-4DC2-8C68-455F2AE81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0" y="1619250"/>
            <a:ext cx="1619250" cy="3238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DAD803D-848D-40EC-9886-CF83484F52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657350"/>
            <a:ext cx="14859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DELEGATE WORK</a:t>
            </a:r>
          </a:p>
        </p:txBody>
      </p:sp>
    </p:spTree>
    <p:extLst>
      <p:ext uri="{BB962C8B-B14F-4D97-AF65-F5344CB8AC3E}">
        <p14:creationId xmlns:p14="http://schemas.microsoft.com/office/powerpoint/2010/main" val="27674229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F596A26-9E0C-4B8E-8F09-87533204D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2A7571-1F78-4D35-9FE3-1838AE1698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A06454F-698D-4635-B29B-C11CF0F584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WORKFLOW VIEW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CC3786B-FE61-4365-AE8A-F0B3092E7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updates converge into one everyday AI operating loop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28E293B-8A9C-4551-B5C9-C716B5B6C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 user brings context, an embedded assistant plans the work, specialist tools create artifacts and review closes the loop.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E691908-E213-4C9F-AD22-60B44B27B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F9A2F9-C47F-4D4A-B14C-33346D17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08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8A3F3-2693-453F-B905-75FB0460F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1809750"/>
            <a:ext cx="2476500" cy="24765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9D5DDBD-C24E-4393-9D4E-761C05297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31888">
            <a:off x="2286000" y="2571750"/>
            <a:ext cx="3855272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4DE0BE8-6E14-4009-BA85-71AC8CF46C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1756515">
            <a:off x="6477000" y="4333875"/>
            <a:ext cx="3603485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7DBF5AB-8E73-4E72-B940-09B0CF88F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>
            <a:off x="2381250" y="2381250"/>
            <a:ext cx="72390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48949DF-3EB6-4CE1-9EA4-1C6C2DBAFE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52412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2C28CC-0A57-4198-97E6-2CD68BA7F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857500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96C1788-7226-424F-820C-5531B4D6DB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190875"/>
            <a:ext cx="19050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REVIEW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A0FA4B4-B6D3-4FA8-AC1F-408A249D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E176F7-EBD5-4FF5-ACE7-617212200F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8FABD6-3DBB-4F49-A695-A395A62EE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AF48B21-111D-4D1B-B82A-4585FF1D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2D645D6-D813-4F05-B8D9-C1D75F9C9B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1C86811-ED13-457B-BA1B-8C7EC57909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7199603-E4EA-4445-B604-0BE8226DE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Bring Trusted Context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FFB5E6D-3A96-4C64-819A-F7DE1AC772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123584-AB1A-4BE4-AE18-B8851A6237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Use project instructions, selected documents and non-sensitive data to define the job.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75471C-61C5-4B46-A244-ACFD08C1C3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417E363-2D98-48AB-B4A3-4D78A3356B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Better context improves relevance, but broad access increases privacy and security exposure.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4FA2B684-15C5-4D1E-8A25-8770E9F0C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16859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9D98EF5-22F2-40D0-93FF-9BB149948A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3333750" cy="23812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EF973A2-B207-470C-8DBC-BE645571D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1571625"/>
            <a:ext cx="47625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F9F70B6F-7F93-499A-B674-643A6532D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1714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D5C20-4E03-4F29-9B0B-420C7EAB6E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23B47A8-9C2B-4C3B-8DB1-1BDB405C3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743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E18BDA9-67B1-416C-A672-117EB74B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1704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Let the Agent Orchestrate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E4F0344-EFC6-44BA-AC5A-7C8CE061E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181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5AC8146-D14C-4548-B5F4-ECCF211073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2352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The assistant chooses tools, calls models and moves between research, design, code or communication.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3B91552-AA17-44B1-B5AF-7F4A8E3826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67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901E8A4-0B15-4815-A3DE-45D30FF86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038475"/>
            <a:ext cx="2952750" cy="7905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Execution needs explicit boundaries, checkpoints and an understandable activity trail.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AEC0690-5C88-42BB-9F0F-7126B27DC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9719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A1C5AEF7-1007-47BA-AEDD-CAA3687579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3333750" cy="2286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093010A-F457-4362-925D-39BDAE003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3857625"/>
            <a:ext cx="47625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53356447-83F1-42C5-932B-63F3617306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81525" y="4000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2CB1692C-5C9D-4633-824A-A9C8D350A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27CB5F34-E304-4FB0-9A26-C011AAD9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00575" y="4029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274C654-6D5D-4EC7-9BF0-F2925A656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57775" y="3990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Inspect the Editable Output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9158A35A-2938-4797-8432-73D2BC128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4467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CD48ECF-8575-46F8-9AC4-31079349B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4638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Review charts, designs, code, translations or videos in the native tool where they can be corrected.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ACEF8E5D-36DD-442E-BFC1-08ECB96A62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38675" y="5153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CDA71C7-77A4-4584-B296-5B87A18013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324475"/>
            <a:ext cx="2952750" cy="6953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best AI output is not merely impressive; it is inspectable, reversible and fit for purpose.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11F24737-AC95-4DBD-A31B-59A2A2A7A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69F6DA82-35E5-4647-84BB-87B8652D6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Daily loop: trusted context + bounded action + human review</a:t>
            </a:r>
          </a:p>
        </p:txBody>
      </p:sp>
    </p:spTree>
    <p:extLst>
      <p:ext uri="{BB962C8B-B14F-4D97-AF65-F5344CB8AC3E}">
        <p14:creationId xmlns:p14="http://schemas.microsoft.com/office/powerpoint/2010/main" val="205035130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AEE4381-8176-4715-9FF1-0F388EF03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A2E8137-67E9-467C-A843-B857470917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933E5D-88C0-4218-8787-27E761816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ADOPTION CHECKLIST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E9248-A04B-4FF6-BB5E-7F357C595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Open agents become useful only when discovery is paired with verification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9C59B-C6A7-4417-AB30-D5F26EBC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the same disciplined path for Kimi, Hermes or any unfamiliar AI agent before connecting real accounts and data.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3C487E-5221-4991-976F-0DCD8F7BE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365036A-C217-48B9-8329-32F61DE3DC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09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69DC4D1-81A5-4C8A-9B04-4C8F21977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95500"/>
            <a:ext cx="2286000" cy="2714625"/>
          </a:xfrm>
          <a:prstGeom xmlns:a="http://schemas.openxmlformats.org/drawingml/2006/main" prst="trapezoid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277B007-880B-4EC1-8972-E2BCD072C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2714625"/>
            <a:ext cx="1714500" cy="128587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80B19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CA5ECA1-AFA3-4EBC-B77A-FE800C45E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29250" y="3000375"/>
            <a:ext cx="1333500" cy="590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SAFE AGENT</a:t>
            </a:r>
          </a:p>
          <a:p xmlns:a="http://schemas.openxmlformats.org/drawingml/2006/main">
            <a:pPr algn="ctr">
              <a:buNone/>
              <a:defRPr sz="157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57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TRIAL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B5E61C7-E6CC-4777-B8A3-A0F966943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8097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320EFA-62BB-4611-AE9D-6A165E0A1B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3333750" cy="24765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B6E213-9191-4B56-A93D-3AC22E543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47625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E4EF4A9-C2A0-4089-8809-51CA7DB5E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8383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666F69D-D09D-4617-90C5-C86C81794E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1B4B77E-4972-4C07-A183-D0FDA37D0D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18669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D1EB3BE-F172-47F1-8079-2EBB89F667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18288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Discover the Exact Capability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AA26017-4AF1-4170-985A-5426ED9DB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050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62DFA90-E79B-4171-88AB-48588C05AC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476500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Identify what the tool can actually do, which accounts it connects to and where it stores information.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3BBCA4A-3C95-4C20-B2F7-028881782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990850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EE78515-CB35-4AB1-9AD7-66A6D21FB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62300"/>
            <a:ext cx="2952750" cy="885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Feature lists are not evidence; define one bounded task with a measurable expected result.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D5CDE1D-AA27-476C-94DE-48D1F2DC08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44005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471D7E0-721F-4955-B4E9-086B74F3F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3333750" cy="18097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5AB355-E7FC-4733-9BC5-1F0FE5102F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286250"/>
            <a:ext cx="47625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B1F474E-9061-440F-A7A2-9A3B871E1F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429125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52B2BE2-12BF-4494-A89B-29269DC8F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2F512A1-9427-449C-933E-A74B68104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457700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0584A52-EEFD-4F27-82FF-43CE85104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4419600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Install in a Test Environment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2399801-F09F-4284-8D53-C95341156F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95850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0C59B55-2763-4DAC-B18A-ABED6909DB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67300"/>
            <a:ext cx="2952750" cy="3333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Use a separate account, reversible setup and non-sensitive documents for the first run.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32F7BF5-F041-4A78-8E43-4AA2E9B5FE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40067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4949E-212D-4C76-A2F0-63F00AF01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572125"/>
            <a:ext cx="29527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69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69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Installation convenience should never hide permissions, network access or background automation.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1F1EB8CE-6580-4F56-A37E-1375B83CE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24479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EE840F8-F2B6-4B9A-8305-943B03897E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3333750" cy="2905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95416271-8B68-4968-BA3F-32F6E67EA1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05800" y="2333625"/>
            <a:ext cx="47625" cy="2905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1B05B1BE-6F0D-40BB-AB96-EFF1078D5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2476500"/>
            <a:ext cx="30289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BB060702-024D-4D76-A0EB-CEA4ADB2B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C443466-FD3C-4640-BB81-01A7CEBEE6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5050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2D9C61F8-5124-4DA8-AF1D-8A6F2DE910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34450" y="2466975"/>
            <a:ext cx="25527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Experience and Inspect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6C531E6-6510-4D88-A504-63D532A33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943225"/>
            <a:ext cx="952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WHAT IT IS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7125181-4514-4AB2-AD50-C3A0CB1E5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114675"/>
            <a:ext cx="295275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F4F7FF"/>
                </a:solidFill>
                <a:latin typeface="Aptos"/>
                <a:ea typeface="Aptos"/>
                <a:cs typeface="Aptos"/>
              </a:rPr>
              <a:t>Run the task, review every intermediate action and check the final artifact in its native format.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A9D21F8-1DBC-4305-9041-31F7E49C7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629025"/>
            <a:ext cx="11430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13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13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WHY IT MATTERS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C2D23ADD-3008-49E3-A600-6AAB75F12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3800475"/>
            <a:ext cx="2952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881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81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Keep the tool only when quality, control, privacy and ongoing effort justify its place in the workflow.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6A817D5-E5E4-495D-9466-B57821D5EA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96300" y="4838700"/>
            <a:ext cx="295275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035CDDE5-A70B-4D05-860F-CDDE951D7E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848225"/>
            <a:ext cx="2838450" cy="21907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75349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788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WATCH: Availability, pricing and claims in a fast-moving weekly news video can change quickly.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461B42FD-1635-480B-AB29-8B79E83EC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1012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DISCOVER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458EA9FC-E002-4936-99B4-DFFDDFCDF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0" y="47625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3B651541-899C-4A35-9F9E-9CAFDBE10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38875" y="1905000"/>
            <a:ext cx="11430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00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VERIFY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86E3371E-00E1-49AE-90D9-B21592C8B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9DA661E7-7239-497B-91D5-0C466DF169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Maturity path: understand -&gt; test safely -&gt; earn trust</a:t>
            </a:r>
          </a:p>
        </p:txBody>
      </p:sp>
    </p:spTree>
    <p:extLst>
      <p:ext uri="{BB962C8B-B14F-4D97-AF65-F5344CB8AC3E}">
        <p14:creationId xmlns:p14="http://schemas.microsoft.com/office/powerpoint/2010/main" val="106029837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1030470-C8AF-4B7A-9901-1F2DA0B0D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46A397-4A4E-4D72-A41C-90FEE25203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DB461EB-1FCA-4D87-813F-222B07084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PRACTICAL LAB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17F99A3-2F96-44DC-9675-55B10332FB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Turn the Kimi Work tutorial into a controlled learning experiment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7692171-A197-4817-B756-E7858AE70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useful outcome is not simply completing the demo; it is learning how the agent handles sources, permissions and revision.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AC567-10F1-404B-A5EC-88FAB9CBA0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4044B0-5749-4766-9430-4240CA333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EEAD39-1128-4F2E-8EED-57E1ADEAE4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4930E8-A157-448C-84D4-25E4709E4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66875"/>
            <a:ext cx="361950" cy="3619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LAB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55DA811-D2CC-49C4-BE9E-4894CE534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1619250"/>
            <a:ext cx="4953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6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KIMI WORK AI AGENT TUTORIAL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6DBB60-1384-46A7-8410-49B420AAA4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76450"/>
            <a:ext cx="5334000" cy="619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Choose one research-to-document task, supply non-sensitive sources and evaluate whether the agent produces a usable, traceable artifact.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D5C6DD6-216A-4946-B918-568BBCB7B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5334000" cy="55245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32A92111-E42E-405D-A20B-4900D5BCDC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933700"/>
            <a:ext cx="5000625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understand the workflow, not merely reproduce the demo.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D38C074A-608E-4979-8899-15CBC935F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AD3E2FA8-258D-4569-BBD3-F756C9B77B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Safety order: isolate -&gt; inspect -&gt; test -&gt; evaluate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9B1C9B1D-28B3-40AF-BF06-6C1987AF3E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571625"/>
            <a:ext cx="4000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2B3A3E1-DBEB-421E-8362-BA06221E4A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1762125"/>
            <a:ext cx="34290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TRY -&gt; OBSERVE -&gt; DECIDE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47041387-734B-4EEC-ACC3-16DD6090E5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24750" y="2114550"/>
            <a:ext cx="3429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the tutorial to understand permissions, source handling, agent planning and export quality.</a:t>
            </a:r>
          </a:p>
        </p:txBody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F317986B-582D-4B71-8EA5-63BC2FD893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A9E5E9A5-977D-4B3F-922B-F0156140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FC3E9808-C048-4869-A174-C83449438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DF6B365D-B29D-411C-A0AD-D29DAFE26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30B6F9BD-6228-4029-837D-7A3E0E1F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1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E71CA619-8206-4479-92ED-FC94FE319F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ISOLATE</a:t>
            </a:r>
          </a:p>
        </p:txBody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33934262-4F60-48AE-9D43-4D550CCCA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Use a test login, non-sensitive files and a reversible workspace.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DC98F051-B91C-489F-A8E6-813D634CF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351472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9C55964A-2E31-4DCC-81B6-1BA06AD2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3014B96-3E48-4CDC-8F6A-973B65282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2900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48EF4EE-F03E-4D14-9EE4-3498AAFB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14A74FEB-70E5-4409-9454-018B12E76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361950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2</a:t>
            </a:r>
          </a:p>
        </p:txBody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C09A40A-C138-4DE3-AF97-A28837C52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59092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INSPECT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37FB2630-E686-4FFB-AF25-B9AF378D7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390525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Review requested permissions, storage, connected services and data-sharing terms.</a:t>
            </a:r>
          </a:p>
        </p:txBody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7EDE2421-5F5A-449A-B1C4-F37901E5E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C89C40E5-8EE7-4FAC-98DA-BC3C341AD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2F753DF-D82C-42CE-8A85-BC48B1E1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323BD443-EA73-4597-9B7A-F22B0C09F0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0222518A-F3E8-4620-84F1-BF301725A7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3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E4D74476-2C70-4884-BA7C-CBCB9C281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A6C5A51F-128C-4478-BB80-E375706FD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9540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Ask for one bounded brief with required sources, sections and an expected output format.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189E682D-4211-4B48-9184-754161AA52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48400" y="4943475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1011D018-922C-4592-898C-6F55F8FDAE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143500" cy="11430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DA76726F-1DCD-4ADD-A797-AB22BDB94B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857750"/>
            <a:ext cx="57150" cy="1143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1E9681D7-8A99-47F6-9F6E-27B76DBDA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4842824A-A9DC-451B-BFBA-50887D91ED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62700" y="5048250"/>
            <a:ext cx="400050" cy="4000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125" b="1">
                <a:solidFill>
                  <a:srgbClr val="080B19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080B19"/>
                </a:solidFill>
                <a:latin typeface="Aptos"/>
                <a:ea typeface="Aptos"/>
                <a:cs typeface="Aptos"/>
              </a:rPr>
              <a:t>4</a:t>
            </a:r>
          </a:p>
        </p:txBody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C5A3930-E821-4A56-A8B6-77D4B614D4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019675"/>
            <a:ext cx="171450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EVALUATE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17A631A0-7E92-4466-8D99-AA23AAD63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15150" y="5334000"/>
            <a:ext cx="409575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Score factual accuracy, citations, editability, privacy, time saved and cleanup effort.</a:t>
            </a:r>
          </a:p>
        </p:txBody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E4DCEDDE-4EFF-41E8-BC4A-04AAA3FFB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81300"/>
            <a:ext cx="5334000" cy="4572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CC052B8-844A-4967-A73C-FE01E77785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838450"/>
            <a:ext cx="50482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050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Learning goal: decide whether Kimi Work deserves a role in your real workflow.</a:t>
            </a:r>
          </a:p>
        </p:txBody>
      </p:sp>
    </p:spTree>
    <p:extLst>
      <p:ext uri="{BB962C8B-B14F-4D97-AF65-F5344CB8AC3E}">
        <p14:creationId xmlns:p14="http://schemas.microsoft.com/office/powerpoint/2010/main" val="173444998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70A18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D9A2FC3-64B1-4BE7-ACE4-F3986EFF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0" y="0"/>
            <a:ext cx="1905000" cy="1905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ED482C-9669-4522-BBE8-BD045A92FC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5715000"/>
            <a:ext cx="1714500" cy="11430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54CB5EC-B237-4633-83B9-2C67BAEE1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266700"/>
            <a:ext cx="3333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LEARNING SYNTHESIS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70F64F-DDF7-48B6-A11C-794A335EA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495300"/>
            <a:ext cx="10668000" cy="4286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4F7FF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F4F7FF"/>
                </a:solidFill>
                <a:latin typeface="Aptos"/>
                <a:ea typeface="Aptos"/>
                <a:cs typeface="Aptos"/>
              </a:rPr>
              <a:t>Do not memorize 16 announcements - learn the five durable shifts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706AD1-AB55-4CF9-A576-7B44D57792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952500"/>
            <a:ext cx="10287000" cy="285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video is a fast-moving snapshot from June 14, 2026. Product claims should be verified, but the underlying patterns are reusable.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7C5FC9A-7680-4867-8F26-A58345ECF4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1304925"/>
            <a:ext cx="112776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AAE888-CDCB-4145-99F7-EA9B565CA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58550" y="6477000"/>
            <a:ext cx="4572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buNone/>
              <a:defRPr sz="82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11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285143-E05F-4592-BAA1-49AE64BC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2076450"/>
            <a:ext cx="2952750" cy="29527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193FE82-05E9-4384-9CF6-CA7448AB5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86375" y="2743200"/>
            <a:ext cx="1619250" cy="1619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8D514C2-AF3C-4F1E-9B83-B5B7C3684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72125" y="3076575"/>
            <a:ext cx="1047750" cy="952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YOUR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AI</a:t>
            </a:r>
          </a:p>
          <a:p xmlns:a="http://schemas.openxmlformats.org/drawingml/2006/main">
            <a:pPr algn="ctr">
              <a:buNone/>
              <a:defRPr sz="1500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500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WORKFLOW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F34B00A-40E4-4749-8437-4812A8403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454B33-1321-42BB-A975-419F56BC11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68DED93-D97D-463B-A4B1-0DF54B90E2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42E8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42E8FF"/>
                </a:solidFill>
                <a:latin typeface="Aptos"/>
                <a:ea typeface="Aptos"/>
                <a:cs typeface="Aptos"/>
              </a:rPr>
              <a:t>1  REGULATION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ABC61C-72AD-43D4-AD1A-AE16898D94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Model access can change through policy, geography and platform decisions.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86A1867-254F-45FC-89B8-A3504C9399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CD93E0-DCFF-437C-B90F-B1BE666EC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1714500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AFD4C26-8138-4B7D-AD06-0B45487329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1857375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8D6BFF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8D6BFF"/>
                </a:solidFill>
                <a:latin typeface="Aptos"/>
                <a:ea typeface="Aptos"/>
                <a:cs typeface="Aptos"/>
              </a:rPr>
              <a:t>2  AGENTS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1BFB30A-74F5-470B-B583-F23D86BB86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2152650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Assistants increasingly plan, use tools and complete multi-step tasks.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9FD896C-9560-41F5-B01F-B4F099E3B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BEDA4DE-00E3-4DD7-B3C7-7FD27319F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8D29C89-5A54-4A8C-B990-84D6FD0B6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6E91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6E91"/>
                </a:solidFill>
                <a:latin typeface="Aptos"/>
                <a:ea typeface="Aptos"/>
                <a:cs typeface="Aptos"/>
              </a:rPr>
              <a:t>3  MULTIMODALITY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54AF71-702F-4BC3-B86D-7DB20F1911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Charts, design, translation, photos and video join the same workflow.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B92CCE-9929-4830-8370-13DC8A4589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42431F-CFDA-4368-8E4E-95BA284EC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45243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892C61F8-0F3C-415C-B5C9-0D8AC976E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6672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FFC857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FFC857"/>
                </a:solidFill>
                <a:latin typeface="Aptos"/>
                <a:ea typeface="Aptos"/>
                <a:cs typeface="Aptos"/>
              </a:rPr>
              <a:t>4  EMBEDDED AI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1A09591-A227-4EE2-9BF1-084106E766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9625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The model disappears inside operating systems and specialist products.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03E37446-D502-4EB3-A245-C9B24872D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3238500" cy="1066800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11A38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0368E34-40DE-4D1D-B1DA-8BA77EEA0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5095875"/>
            <a:ext cx="57150" cy="1066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9551253-C593-4936-8E33-2112751C8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238750"/>
            <a:ext cx="28575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A7F36B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A7F36B"/>
                </a:solidFill>
                <a:latin typeface="Aptos"/>
                <a:ea typeface="Aptos"/>
                <a:cs typeface="Aptos"/>
              </a:rPr>
              <a:t>5  EVALUATION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3417ECF-615E-4D3E-8D6E-990FE9DF6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5534025"/>
            <a:ext cx="2857500" cy="4953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Accuracy, permissions, editability, cost and control determine real value.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35F407E-FFAF-4481-9000-128974061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2261654">
            <a:off x="39052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2E8FF"/>
          </a:solidFill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8456214-A6B1-4C48-A6BB-BB1052D4F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8538346">
            <a:off x="8286750" y="2238375"/>
            <a:ext cx="1324112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6BFF"/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7C244B5-F18E-49A6-A380-E3BC60D8C6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2089469">
            <a:off x="3857625" y="4857750"/>
            <a:ext cx="13343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6E91"/>
          </a:solidFill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93405B-2A1E-4384-ABBD-7DB7BFB9FA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8638358">
            <a:off x="8286750" y="4857750"/>
            <a:ext cx="129554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C857"/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4043CDE-53FE-41C6-B2D9-45B7441E8A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-5177083">
            <a:off x="6048375" y="5095875"/>
            <a:ext cx="73497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A7F36B"/>
          </a:solidFill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E118F0D4-7C74-445F-8BFF-115C6188C4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7200" y="6343650"/>
            <a:ext cx="4000500" cy="238125"/>
          </a:xfrm>
          <a:prstGeom xmlns:a="http://schemas.openxmlformats.org/drawingml/2006/main" prst="roundRect">
            <a:avLst/>
          </a:prstGeom>
          <a:solidFill xmlns:a="http://schemas.openxmlformats.org/drawingml/2006/main">
            <a:srgbClr val="18234A"/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C837B69C-814E-4F9A-ACC2-8F7CCD6C4C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6353175"/>
            <a:ext cx="3771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38100" tIns="19050" rIns="38100" bIns="1905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788" b="0">
                <a:solidFill>
                  <a:srgbClr val="AEB9D8"/>
                </a:solidFill>
                <a:latin typeface="Aptos"/>
                <a:ea typeface="Aptos"/>
                <a:cs typeface="Aptos"/>
              </a:defRPr>
            </a:pPr>
            <a:r>
              <a:rPr sz="788" b="0">
                <a:solidFill>
                  <a:srgbClr val="AEB9D8"/>
                </a:solidFill>
                <a:latin typeface="Aptos"/>
                <a:ea typeface="Aptos"/>
                <a:cs typeface="Aptos"/>
              </a:rPr>
              <a:t>Next practice: choose one tool, define success and run a bounded test</a:t>
            </a:r>
          </a:p>
        </p:txBody>
      </p:sp>
    </p:spTree>
    <p:extLst>
      <p:ext uri="{BB962C8B-B14F-4D97-AF65-F5344CB8AC3E}">
        <p14:creationId xmlns:p14="http://schemas.microsoft.com/office/powerpoint/2010/main" val="46377562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2026-06-15T13:37:37.4250000Z</dcterms:created>
  <dcterms:modified xsi:type="dcterms:W3CDTF">2026-06-15T13:37:37.4250000Z</dcterms:modified>
</coreProperties>
</file>