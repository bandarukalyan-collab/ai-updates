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4a487fa00d4664" /><Relationship Type="http://schemas.openxmlformats.org/officeDocument/2006/relationships/extended-properties" Target="/docProps/app.xml" Id="Rf2efa02009b74760" /><Relationship Type="http://schemas.openxmlformats.org/officeDocument/2006/relationships/officeDocument" Target="/ppt/presentation.xml" Id="R4c491295bc9f44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f1921512be4915"/>
  </p:sldMasterIdLst>
  <p:notesMasterIdLst>
    <p:notesMasterId xmlns:r="http://schemas.openxmlformats.org/officeDocument/2006/relationships" r:id="R55be3fef17a2455f"/>
  </p:notesMasterIdLst>
  <p:sldIdLst>
    <p:sldId xmlns:r="http://schemas.openxmlformats.org/officeDocument/2006/relationships" id="256" r:id="R6bdd40ccfbb0467f"/>
    <p:sldId xmlns:r="http://schemas.openxmlformats.org/officeDocument/2006/relationships" id="257" r:id="R73ff6df8b9ab4e02"/>
    <p:sldId xmlns:r="http://schemas.openxmlformats.org/officeDocument/2006/relationships" id="258" r:id="Rade518a20ad748af"/>
    <p:sldId xmlns:r="http://schemas.openxmlformats.org/officeDocument/2006/relationships" id="259" r:id="R8fe456ed0f2d4d1b"/>
    <p:sldId xmlns:r="http://schemas.openxmlformats.org/officeDocument/2006/relationships" id="260" r:id="R033b560773ed4448"/>
    <p:sldId xmlns:r="http://schemas.openxmlformats.org/officeDocument/2006/relationships" id="261" r:id="Rdc9b8a7beda64e88"/>
    <p:sldId xmlns:r="http://schemas.openxmlformats.org/officeDocument/2006/relationships" id="262" r:id="R378e8795d9554413"/>
    <p:sldId xmlns:r="http://schemas.openxmlformats.org/officeDocument/2006/relationships" id="263" r:id="R6c7ed23edfab43d1"/>
    <p:sldId xmlns:r="http://schemas.openxmlformats.org/officeDocument/2006/relationships" id="264" r:id="Rc04db4d4206b4958"/>
    <p:sldId xmlns:r="http://schemas.openxmlformats.org/officeDocument/2006/relationships" id="265" r:id="R107c690f272c432b"/>
    <p:sldId xmlns:r="http://schemas.openxmlformats.org/officeDocument/2006/relationships" id="266" r:id="R596f4884d16148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70e64c4950401b" /><Relationship Type="http://schemas.openxmlformats.org/officeDocument/2006/relationships/slideMaster" Target="/ppt/slideMasters/slideMaster1.xml" Id="Rfbf1921512be4915" /><Relationship Type="http://schemas.openxmlformats.org/officeDocument/2006/relationships/notesMaster" Target="/ppt/notesMasters/notesMaster1.xml" Id="R55be3fef17a2455f" /><Relationship Type="http://schemas.openxmlformats.org/officeDocument/2006/relationships/presProps" Target="/ppt/presProps.xml" Id="Rde22b26ec0fa4840" /><Relationship Type="http://schemas.openxmlformats.org/officeDocument/2006/relationships/viewProps" Target="/ppt/viewProps.xml" Id="Re2745b1f442342dd" /><Relationship Type="http://schemas.openxmlformats.org/officeDocument/2006/relationships/tableStyles" Target="/ppt/tableStyles.xml" Id="Rebca5024ca7943f6" /><Relationship Type="http://schemas.openxmlformats.org/officeDocument/2006/relationships/slide" Target="/ppt/slides/slide1.xml" Id="R6bdd40ccfbb0467f" /><Relationship Type="http://schemas.openxmlformats.org/officeDocument/2006/relationships/slide" Target="/ppt/slides/slide2.xml" Id="R73ff6df8b9ab4e02" /><Relationship Type="http://schemas.openxmlformats.org/officeDocument/2006/relationships/slide" Target="/ppt/slides/slide3.xml" Id="Rade518a20ad748af" /><Relationship Type="http://schemas.openxmlformats.org/officeDocument/2006/relationships/slide" Target="/ppt/slides/slide4.xml" Id="R8fe456ed0f2d4d1b" /><Relationship Type="http://schemas.openxmlformats.org/officeDocument/2006/relationships/slide" Target="/ppt/slides/slide5.xml" Id="R033b560773ed4448" /><Relationship Type="http://schemas.openxmlformats.org/officeDocument/2006/relationships/slide" Target="/ppt/slides/slide6.xml" Id="Rdc9b8a7beda64e88" /><Relationship Type="http://schemas.openxmlformats.org/officeDocument/2006/relationships/slide" Target="/ppt/slides/slide7.xml" Id="R378e8795d9554413" /><Relationship Type="http://schemas.openxmlformats.org/officeDocument/2006/relationships/slide" Target="/ppt/slides/slide8.xml" Id="R6c7ed23edfab43d1" /><Relationship Type="http://schemas.openxmlformats.org/officeDocument/2006/relationships/slide" Target="/ppt/slides/slide9.xml" Id="Rc04db4d4206b4958" /><Relationship Type="http://schemas.openxmlformats.org/officeDocument/2006/relationships/slide" Target="/ppt/slides/slide10.xml" Id="R107c690f272c432b" /><Relationship Type="http://schemas.openxmlformats.org/officeDocument/2006/relationships/slide" Target="/ppt/slides/slide11.xml" Id="R596f4884d16148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79d6e183ca47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52c3a7b9b64fa8" /><Relationship Type="http://schemas.openxmlformats.org/officeDocument/2006/relationships/notesMaster" Target="/ppt/notesMasters/notesMaster1.xml" Id="R4771692e05fc47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5abdf055664ff9" /><Relationship Type="http://schemas.openxmlformats.org/officeDocument/2006/relationships/notesMaster" Target="/ppt/notesMasters/notesMaster1.xml" Id="R56d40d4d72a84d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295303e9a84864" /><Relationship Type="http://schemas.openxmlformats.org/officeDocument/2006/relationships/notesMaster" Target="/ppt/notesMasters/notesMaster1.xml" Id="R25fa3895e7354b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de22760eaa464f" /><Relationship Type="http://schemas.openxmlformats.org/officeDocument/2006/relationships/notesMaster" Target="/ppt/notesMasters/notesMaster1.xml" Id="Re8d931fdef444e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675c0bf4874287" /><Relationship Type="http://schemas.openxmlformats.org/officeDocument/2006/relationships/notesMaster" Target="/ppt/notesMasters/notesMaster1.xml" Id="R2b5a2f856da843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03745f491c45c9" /><Relationship Type="http://schemas.openxmlformats.org/officeDocument/2006/relationships/notesMaster" Target="/ppt/notesMasters/notesMaster1.xml" Id="R6245d039fda249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c289721bee4e73" /><Relationship Type="http://schemas.openxmlformats.org/officeDocument/2006/relationships/notesMaster" Target="/ppt/notesMasters/notesMaster1.xml" Id="R52762fae999241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64177ee88e4c3f" /><Relationship Type="http://schemas.openxmlformats.org/officeDocument/2006/relationships/notesMaster" Target="/ppt/notesMasters/notesMaster1.xml" Id="R8ad2dab6474549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9d7d8dc4e44c8f" /><Relationship Type="http://schemas.openxmlformats.org/officeDocument/2006/relationships/notesMaster" Target="/ppt/notesMasters/notesMaster1.xml" Id="R93f026f36f374c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3fec1ef7e24e6d" /><Relationship Type="http://schemas.openxmlformats.org/officeDocument/2006/relationships/notesMaster" Target="/ppt/notesMasters/notesMaster1.xml" Id="R95db952e29e24e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54eda59bb04b62" /><Relationship Type="http://schemas.openxmlformats.org/officeDocument/2006/relationships/notesMaster" Target="/ppt/notesMasters/notesMaster1.xml" Id="R744eb8b4f90d42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idea that these are not three unrelated headlines. Together they show what personal AI is becoming.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1. PewDiePie releases Odysseus AI: Frame this as a distribution event, not only a product launch. A large creator can normalize the idea that personal AI may be owned and modified by its user.</a:t>
            </a:r>
          </a:p>
          <a:p xmlns:a="http://schemas.openxmlformats.org/drawingml/2006/main">
            <a:r>
              <a:t>2. ChatGPT memory upgrades: Use a simple example: a tutor that remembers your skill level, goals and preferred explanation style. The value compounds, but so does the need for privacy controls.</a:t>
            </a:r>
          </a:p>
          <a:p xmlns:a="http://schemas.openxmlformats.org/drawingml/2006/main">
            <a:r>
              <a:t>3. Anthropic’s $65B funding signal: The learning point is the economics: model quality is tied to infrastructure capacity. Avoid presenting the exact figure as independently 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once assistants are persistent and well funded, the next question is who can access them and what they can create.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slide as a bridge: infrastructure gets people online, generative tools let them create, and larger limits let agents complete meaningful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4. BSNL + Starlink partnership: Explain that AI access begins with reliable connectivity. The strategic value is inclusion, though commercial and regulatory details determine real impact.</a:t>
            </a:r>
          </a:p>
          <a:p xmlns:a="http://schemas.openxmlformats.org/drawingml/2006/main">
            <a:r>
              <a:t>5. Grok Imagine 1.5 preview: Focus on usability: the winning tools will not only generate a striking image, but also preserve characters, style and intent across iterations.</a:t>
            </a:r>
          </a:p>
          <a:p xmlns:a="http://schemas.openxmlformats.org/drawingml/2006/main">
            <a:r>
              <a:t>6. Claude Cowork doubles limits: Distinguish capacity from intelligence. The model may not be smarter, but more uninterrupted working time can materially improve end-to-end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with access improving, the technology stack itself is expanding from digital models into physical systems and direct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top diagram as the organizing picture. The three headlines occupy different layers of the same intelligence-to-action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7. NVIDIA Cosmos 3 Physical AI: Clarify that language intelligence alone is insufficient for robotics. Physical AI must predict how actions change the world and remain reliable under uncertainty.</a:t>
            </a:r>
          </a:p>
          <a:p xmlns:a="http://schemas.openxmlformats.org/drawingml/2006/main">
            <a:r>
              <a:t>8. Seven new Microsoft MAI models: The strategic shift is from one universal model to a managed family. This creates more control over economics and user experience.</a:t>
            </a:r>
          </a:p>
          <a:p xmlns:a="http://schemas.openxmlformats.org/drawingml/2006/main">
            <a:r>
              <a:t>9. Send emails from ChatGPT: Use email as the clearest example of agentic action. The productivity gain is real, but a human approval step is important for consequential communication.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next wave makes these capabilities cheaper and more usable at the edge, in media workflows and at home.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feel tangible. Move from hardware on the desk, to content on the screen, to routines in the home.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10. NVIDIA RTX Spark superchip: Position this as an edge-computing story. Local systems are especially useful for prototyping, private data and workloads with repeated cloud costs.</a:t>
            </a:r>
          </a:p>
          <a:p xmlns:a="http://schemas.openxmlformats.org/drawingml/2006/main">
            <a:r>
              <a:t>11. ElevenLabs Dubbing v2 Alpha: Dubbing is more than translation. Good localization must preserve emotion, pacing and context, and creators need explicit rights to use a voice.</a:t>
            </a:r>
          </a:p>
          <a:p xmlns:a="http://schemas.openxmlformats.org/drawingml/2006/main">
            <a:r>
              <a:t>12. Ollie AI family assistant: Use this to explain vertical AI: the model becomes more valuable when wrapped in a domain-specific workflow and carefully designed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when AI is close to the user, it can participate continuously in commerce, creativity and navigation across interfaces.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in the center with user intent, then reveal the three destinations. This provides a natural presentation sequence even without click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13. Gopuff × Grok “Go”: Explain that conversation compresses the funnel. The critical trust question is whether the assistant optimizes for the user or the merchant.</a:t>
            </a:r>
          </a:p>
          <a:p xmlns:a="http://schemas.openxmlformats.org/drawingml/2006/main">
            <a:r>
              <a:t>14. Google Magenta RealTime 2: Contrast this with one-shot song generation. Real-time interaction lets the human shape the result continuously, which is closer to playing than prompting.</a:t>
            </a:r>
          </a:p>
          <a:p xmlns:a="http://schemas.openxmlformats.org/drawingml/2006/main">
            <a:r>
              <a:t>15. Microsoft Scout autopilot agent: This is powerful because the agent can use existing interfaces, but visual automation is brittle. Emphasize checkpoints and graceful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these ambient experiences depend on an extensible tool ecosystem underneath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pipeline above the cards as the technical model. It connects three updates that would otherwise sound unrelated.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16. OpenClaw + Microsoft MXC: Describe this as ecosystem leverage. The agent framework supplies flexibility; enterprise infrastructure supplies distribution and controls.</a:t>
            </a:r>
          </a:p>
          <a:p xmlns:a="http://schemas.openxmlformats.org/drawingml/2006/main">
            <a:r>
              <a:t>17. OpenAI Codex sites &amp; plugins: The key idea is capability packaging. A plugin can bundle repeatable workflows, making the agent more consistent for a specific task.</a:t>
            </a:r>
          </a:p>
          <a:p xmlns:a="http://schemas.openxmlformats.org/drawingml/2006/main">
            <a:r>
              <a:t>18. HeyGen frame.md video layouts: Emphasize editability. Structured generation is valuable because teams can inspect and change the layout instead of regenerating everything.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same modular logic is appearing in media generation, model routing and 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 slide as two studios. The left creates an asset; the right chooses intelligence and retrieves evidence for a larger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19. ElevenLabs Music v2: Avoid framing it as replacing musicians. The practical value is rapid ideation and production support, especially when rights and attribution are clear.</a:t>
            </a:r>
          </a:p>
          <a:p xmlns:a="http://schemas.openxmlformats.org/drawingml/2006/main">
            <a:r>
              <a:t>20. Perplexity hybrid inference: Give a simple analogy: use a fast lane for straightforward questions and deeper reasoning for complex research. The system should choose deliberately.</a:t>
            </a:r>
          </a:p>
          <a:p xmlns:a="http://schemas.openxmlformats.org/drawingml/2006/main">
            <a:r>
              <a:t>21. Perplexity Search as Code: The major change is from search as a destination to search as infrastructure. Developers can build evidence gathering into their own products.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these capabilities are now being embedded into open models and the daily tools used by knowledge workers and developers.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three triangle corners, then point to the center: daily work becomes an AI-assisted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22. Google Gemma 4 12B: Explain that 12B indicates a model scale, not guaranteed quality. The attraction is the balance between capability and deployability.</a:t>
            </a:r>
          </a:p>
          <a:p xmlns:a="http://schemas.openxmlformats.org/drawingml/2006/main">
            <a:r>
              <a:t>23. Microsoft 365 Copilot redesign: The advantage is context inside the suite. The risk is interface overload, so successful design must make AI available without obscuring core tasks.</a:t>
            </a:r>
          </a:p>
          <a:p xmlns:a="http://schemas.openxmlformats.org/drawingml/2006/main">
            <a:r>
              <a:t>24. Cursor auto-review run mode: Stress that auto-review is not proof of correctness. It is an additional loop that should complement tests and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open-agent projects are also becoming easier to extend, install and experience as finished desktop products.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Updates 25–27 show three different stages of open and agent-first computing.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Hermes Agent Tool Search Update: capabilities are discovered only when needed.</a:t>
            </a:r>
          </a:p>
          <a:p xmlns:a="http://schemas.openxmlformats.org/drawingml/2006/main">
            <a:r>
              <a:t>26. Hermes Desktop App Launch: packaging makes an open agent easier to install and use.</a:t>
            </a:r>
          </a:p>
          <a:p xmlns:a="http://schemas.openxmlformats.org/drawingml/2006/main">
            <a:r>
              <a:t>27. Microsoft Project Solara Preview: a separate Microsoft initiative from Scout. Solara is an agent-first chip-to-cloud platform and reference-device ecosystem; Scout is the autonomous Microsoft 365 agent covered in update 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 Solara as an early platform direction, not a generally available consumer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 28 is the action slide. Explain that installation itself is not the goal; the goal is learning how an open agent behaves.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1. Isolate: protect personal accounts and files.</a:t>
            </a:r>
          </a:p>
          <a:p xmlns:a="http://schemas.openxmlformats.org/drawingml/2006/main">
            <a:r>
              <a:t>2. Inspect: understand permissions, storage and external tools.</a:t>
            </a:r>
          </a:p>
          <a:p xmlns:a="http://schemas.openxmlformats.org/drawingml/2006/main">
            <a:r>
              <a:t>3. Test: use a bounded task with an expected result.</a:t>
            </a:r>
          </a:p>
          <a:p xmlns:a="http://schemas.openxmlformats.org/drawingml/2006/main">
            <a:r>
              <a:t>4. Evaluate: decide whether the value justifies risk and maintenance.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by asking the audience to choose one update from the deck and run a similarly small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zooming out from individual announcements. These five shifts are the reusable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1. Persistence: assistants gain continuity.</a:t>
            </a:r>
          </a:p>
          <a:p xmlns:a="http://schemas.openxmlformats.org/drawingml/2006/main">
            <a:r>
              <a:t>2. Action: assistants use tools and complete tasks.</a:t>
            </a:r>
          </a:p>
          <a:p xmlns:a="http://schemas.openxmlformats.org/drawingml/2006/main">
            <a:r>
              <a:t>3. Multimodality: more types of input, output and environment become native.</a:t>
            </a:r>
          </a:p>
          <a:p xmlns:a="http://schemas.openxmlformats.org/drawingml/2006/main">
            <a:r>
              <a:t>4. Open ecosystems: users gain deployment and extension choices.</a:t>
            </a:r>
          </a:p>
          <a:p xmlns:a="http://schemas.openxmlformats.org/drawingml/2006/main">
            <a:r>
              <a:t>5. Evaluation: usefulness depends on privacy, reliability, cost and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message: choose one personal workflow, define what a good result looks like, and test one tool in a bounded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4a080b63ff40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e437b7d4704d7b" /><Relationship Type="http://schemas.openxmlformats.org/officeDocument/2006/relationships/slideLayout" Target="/ppt/slideLayouts/slideLayout1.xml" Id="R206f269070c240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6f269070c240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155cbf74b4c04" /><Relationship Type="http://schemas.openxmlformats.org/officeDocument/2006/relationships/notesSlide" Target="/ppt/notesSlides/notesSlide1.xml" Id="R1e8e210c53044f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96a09828344d2" /><Relationship Type="http://schemas.openxmlformats.org/officeDocument/2006/relationships/notesSlide" Target="/ppt/notesSlides/notesSlide2.xml" Id="Rcf107087d8ab41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0b7e0fdff4cf2" /><Relationship Type="http://schemas.openxmlformats.org/officeDocument/2006/relationships/notesSlide" Target="/ppt/notesSlides/notesSlide3.xml" Id="Rc7b4d46ce6dd4a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a0c37690543b3" /><Relationship Type="http://schemas.openxmlformats.org/officeDocument/2006/relationships/notesSlide" Target="/ppt/notesSlides/notesSlide4.xml" Id="R7554f1f3163744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eb68ccc134c7a" /><Relationship Type="http://schemas.openxmlformats.org/officeDocument/2006/relationships/notesSlide" Target="/ppt/notesSlides/notesSlide5.xml" Id="R1690d74a3ce140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560d6d72045c3" /><Relationship Type="http://schemas.openxmlformats.org/officeDocument/2006/relationships/notesSlide" Target="/ppt/notesSlides/notesSlide6.xml" Id="R41175ac2618345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85d4f93554924" /><Relationship Type="http://schemas.openxmlformats.org/officeDocument/2006/relationships/notesSlide" Target="/ppt/notesSlides/notesSlide7.xml" Id="R87be1a51e91b40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07c649e6e434a" /><Relationship Type="http://schemas.openxmlformats.org/officeDocument/2006/relationships/notesSlide" Target="/ppt/notesSlides/notesSlide8.xml" Id="R850181e551484c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97e84b8d34dd3" /><Relationship Type="http://schemas.openxmlformats.org/officeDocument/2006/relationships/notesSlide" Target="/ppt/notesSlides/notesSlide9.xml" Id="R5bb8a64996054c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750fe4ca74a92" /><Relationship Type="http://schemas.openxmlformats.org/officeDocument/2006/relationships/notesSlide" Target="/ppt/notesSlides/notesSlide10.xml" Id="R8353853ad39249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599c3827746e1" /><Relationship Type="http://schemas.openxmlformats.org/officeDocument/2006/relationships/notesSlide" Target="/ppt/notesSlides/notesSlide11.xml" Id="R4593280c8e7a4e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5E70EC-0102-4B84-9AD0-CA158BD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404B8-704E-4376-B36D-61B1434F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B6315-CF40-43A4-AE46-A96EEA0A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UPDATES 01–03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EE6C3-D569-4BDB-A202-A084720E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Personal AI becomes persistent, open and capital-intensive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A38CB-733C-455A-9576-2FC21FB3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Three signals define the new baseline: ownership, memory and infrastructure-scale investment.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CA7E2-2A94-4E56-9F93-6A349728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1EF1D-119A-4786-A2EB-1056366E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95F2E-736D-4578-B635-A2256B7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3333750" cy="4248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D61D6-A440-4AF4-A33D-A0355FE3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3333750" cy="4248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1E6FD-4D1D-4A1D-9CD0-D5EA22BA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476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23D37-6592-4C83-B22F-70244F82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7BD42-FC42-47A6-9FE5-57DAB35A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A2D7D-4A0B-4563-9333-B38E5CB7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38EB6-31FC-46D8-A592-94CF4CD9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PewDiePie Releases Odysseus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EE0C0-AE81-41E7-93BE-7F3A2D7E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78357-B152-4790-A366-02E0EB8E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95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creator-led personal AI project that brings open assistants to a mainstream audience.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89D90-E8B0-475C-A2A3-D6559402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E88EB-85CE-4CE7-903D-FD4CF75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9527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4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94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It makes self-hosting, customization and community ownership feel approachable beyond developer circles.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62151-78E0-4629-B6F3-092D2DB5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8FE2E-573B-4733-90A9-8245D03A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WATCH: How open the model, memory and setup really are.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98E16F-CF5D-4643-8649-365E6C0F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81200"/>
            <a:ext cx="3333750" cy="396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DB750-6264-4E97-8A56-7CC622D8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3333750" cy="396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981A5-E32C-46B2-974F-D744EFF8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476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A19D5-B3F4-4857-9A5A-D15D86C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977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67EE0-A3F4-450A-92E6-1860950C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D970F1-9491-4677-B198-09BD1F06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D172E-D576-40CF-9C48-BFD0555B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0025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ChatGPT Memory Upgrades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72892-B3A4-497C-9B2F-CD6CE7C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6BB438-204C-4B05-8D6E-3A4791E9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47950"/>
            <a:ext cx="295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ChatGPT can retain more useful context across conversations instead of restarting from zero.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7E30F8-8914-4395-8414-AB106C6E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242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59155-AAEE-40F5-8511-D32093AB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95675"/>
            <a:ext cx="29527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4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94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Persistent preferences and project context turn a chatbot into a cumulative learning partner.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0C3067-7DDD-4204-B9A1-5B066161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2925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5A05F6-3078-4F59-8D21-72415BE1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43877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5601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WATCH: Memory controls, accuracy and what should never be stored.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EEF4D5-23F0-4CE0-B70B-D54C62DB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3333750" cy="3676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CD6508-FEBF-457A-9B41-787A0D67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333750" cy="3676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4090B2-6D43-4F1C-AA66-D4C04B06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47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DDE232-978C-4661-A47C-19BC72AF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955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5930B4-8120-4FC7-916D-D5F9ED6E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9DCF53-23A3-4E1A-A0D5-20CB7097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627ADB-4765-4D88-8071-4DA4FDC9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Anthropic $65 Billion Funding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8F9CCF-3967-49D3-9BB7-966A331A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373713-85CC-40BB-B30F-B82C806D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reports a major funding milestone around Anthropic and the frontier-model race.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D77482-FCCC-4BEC-8F3A-04C2A969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48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406D1B-9434-4E3C-92A3-4308757B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952750" cy="172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Frontier AI now requires data centers, chips, research talent and global distribution at enormous scale.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FB2975-5D54-4B3D-8607-F4E40BFB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2925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78B566-AF88-4195-800A-987CF770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3877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0776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WATCH: Treat the figure as video-reported and verify before external use.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6A37A0-CFC7-42A3-8A97-E7DCE596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685800" cy="6858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D05118-FB60-40F3-9F3D-E66F3F5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685800" cy="6858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3FCD96-A964-4AEE-8E89-2B15C008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A913E7-DC7A-4E14-A95C-C0142460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Presentation flow: ownership → continuity → scale</a:t>
            </a:r>
          </a:p>
        </p:txBody>
      </p:sp>
    </p:spTree>
    <p:extLst>
      <p:ext uri="{BB962C8B-B14F-4D97-AF65-F5344CB8AC3E}">
        <p14:creationId xmlns:p14="http://schemas.microsoft.com/office/powerpoint/2010/main" val="288614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BD7AA-C731-41CB-A414-1C494724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397D9-A2AE-4FE8-BD4B-F3B79F6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58D00-6A46-43FD-B0B2-B573270F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UPDATES 04–06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C9DAC-6E3D-4AAB-99CA-8E3A6A01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Access widens while creation and delegated work accelerate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76223-7536-4F02-B170-C6150C9C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Connectivity, generative media and higher agent limits remove three different bottlenecks.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67521-84A7-4AAA-9BB4-1DAED8D8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99006-89EE-4C49-B9DB-2231F7BE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1FC7E-37A5-4A83-84A0-1C3B3387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11410">
            <a:off x="1428750" y="5286375"/>
            <a:ext cx="974405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B3419-739B-47E1-A650-C090375F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0C88E-D143-4152-BEF1-431A1D6F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57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41083-D6E5-4D35-92CF-3BDAB134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0D80B-0370-479F-90DD-D60832E6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A8086-6E2E-4407-8940-93EF139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476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5276E-AEFD-4712-B362-0F0F2102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E42DF-BDCA-4834-BEB6-8B188775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05666-9FA8-495F-BCA6-431F52FE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39B30-A99A-448A-8CDC-1D611B47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7642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BSNL + Starlink Partnership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E367B-42C6-45AB-9623-B422A51D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8753-DFA0-4A49-9CC7-3E91E594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reported partnership connects satellite internet ambitions with a large telecom footprint.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29D78-23D7-48DF-8DCF-5BD8D069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5D890-C023-49B5-BB43-5EF68AC6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9527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Better connectivity can bring cloud AI, education and digital services to harder-to-reach regions.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9B5A3-E032-47DC-B670-055E0B4A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0A936-E459-4F33-8766-7D9F5D8E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WATCH: Coverage, pricing, regulation and actual launch scope.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9F4BC-0BCA-4FD9-9D85-DA50BE89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0502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D97AC-65F7-40D1-9271-71A5217F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9072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16E29-8F18-4EEC-BA45-335E3D3B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90725"/>
            <a:ext cx="476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06DFE-86A7-48BF-812D-DA9FBF9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336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5FCD79-9327-4B38-88CD-1853FC7A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621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D764A9-3E8B-4F97-B53B-0EDD4F37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621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A55F74-D087-4B22-B476-2EAA2E3F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240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Grok Imagine 1.5 Preview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887C86-1D8D-4119-B62E-AD1D626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003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DD10D-C77B-4103-B067-884EEF3A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preview of xAI’s next visual-generation experience for creating images and possibly richer media.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DECC1D-41B5-4DA5-9DA8-BDA4F0B8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861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FA0D46-79AA-4C5D-8567-5854680E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57575"/>
            <a:ext cx="29527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Visual AI is moving from specialist software into conversational products used by broad audiences.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0BA9BA-EBF9-40B5-B0B5-852699DE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2922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79ECE6-C9E1-4823-A3D2-97812041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3875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5382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WATCH: Prompt fidelity, consistency, safety and production readiness.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BAC5DB-FEBD-4412-AB9B-6F79F9C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526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355008-285B-4D45-9CBB-1D1158CA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9D358D-9B01-4AA2-8030-7AB007C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476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ACEE1E-1CCD-4AC9-94F9-ADE10D79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1175FA-6B6E-40E8-A855-52D33D4E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5D5551-2944-4C8C-AF57-5035EAD2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BE1216-7FAD-422F-8254-703267A1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7172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Claude Cowork 2x Limits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6022FA-5949-4A68-9732-8375D5F7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4797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9274F4-9B4D-45A8-BFEE-3991DBA6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1942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Higher usage limits allow longer sessions for delegated research, writing and multi-step knowledge work.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53BDA1-2A3F-4398-BF19-9D5E6E0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337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11E5B0-52C2-4AA4-B329-4CA2DCF0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05225"/>
            <a:ext cx="29527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Agents become useful when they can stay with a task long enough to finish it, not stop halfway.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A3DC7E-B143-4A0C-8FE7-0AE4A6B7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768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906E72-EE81-46E0-9566-324B851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864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WATCH: Cost, review checkpoints and whether limits vary by plan.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0B7701-4FE3-4E60-BBE5-424A2DB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5F80B4-CF80-48E3-BB9E-3B73B156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Three bottlenecks: connection → creation → capacity</a:t>
            </a:r>
          </a:p>
        </p:txBody>
      </p:sp>
    </p:spTree>
    <p:extLst>
      <p:ext uri="{BB962C8B-B14F-4D97-AF65-F5344CB8AC3E}">
        <p14:creationId xmlns:p14="http://schemas.microsoft.com/office/powerpoint/2010/main" val="1425256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27C46-7E2D-4E9C-9875-17455541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F4888-04E1-453E-BC52-726618BF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BFB4A-CE55-4436-A0DB-292A74E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UPDATES 07–09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42112-2081-4FB2-AD94-64DF31D6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model stack is moving from intelligence to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44340-E4AE-47F2-B9CB-09F7B8AA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World models, specialized model families and connected tools form an increasingly complete action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3C30D-47C3-4756-ADEF-5C3C4F7B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783CB-B9E1-4E3D-BEDB-B8E7E48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CAC78-500D-4912-8023-BA6937FE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95450"/>
            <a:ext cx="1190625" cy="8763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698E4-2FE2-4575-8415-D3DFB49A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95450"/>
            <a:ext cx="1190625" cy="8763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2817A-B9AF-4508-AE74-7C322D3A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695450"/>
            <a:ext cx="1190625" cy="8763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0E5DA-7658-4751-B5D9-6827D73F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1841">
            <a:off x="2571750" y="2133600"/>
            <a:ext cx="2905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664C7-8B91-414C-9DCB-B319AB92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1841">
            <a:off x="6667500" y="2133600"/>
            <a:ext cx="2905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A1F15-2B30-4240-BD0F-51F76CF2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WORLD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D6DCE-A0D1-4C31-AC38-9D2BECD8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71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B9915-8A46-4A12-8179-784832C5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C863F-616B-4C18-90DF-7B639B3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DAA1B-999C-4D0A-86C9-8245AF2F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7FE5E-E07C-498D-BFA8-D0A67A70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47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E8DD1-69A7-4C16-9234-6B8AFEB0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FC840-FB8C-4215-BE44-35ED05D6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A07C6-A99A-4508-8FE2-86E732C6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D0901-D33C-43E1-84FA-BA0C6665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28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NVIDIA Cosmos 3 Physical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E14E49-D073-4846-951A-E064C37C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FEF4E-2953-44E8-89C7-170366AD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physical-AI stack aimed at simulation, perception and world understanding for machines.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65BCCD-506B-4652-8E65-B74AD102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BBDA1-81B8-48C9-99F7-6A27090C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95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Robots and autonomous systems need models that reason about motion, space, cause and consequence.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7C8107-00CB-407C-B3D7-60D715A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099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8EB76B-A0B5-46DD-A10A-951467AB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FFEDE1-E6C4-42D6-BAF3-D73F0FEF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47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26B67F-3D61-4D90-ADB0-F05D6551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429F0-A92D-47D6-BA0C-0CFA37F8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F17B79-E6E8-4335-8E1F-88B9F084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67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F7FFBF-9054-47B7-B97F-183880EA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28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Seven New Microsoft MAI Models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0BF520-ABCF-4CC3-A3E9-95F93AE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05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8C1DC6-99BC-4E88-B2F8-A7A31C5B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76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Microsoft expands its own model portfolio across different modalities, sizes and tasks.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92C824-1387-490A-ACA5-88DE7399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1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88A91-54E5-4937-81C4-702C49A8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81500"/>
            <a:ext cx="295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 portfolio can route each job to a model optimized for quality, latency, cost or device constraints.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795A10-5AD4-4D23-855C-FFD8B49B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99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A994E6-1E39-4C44-835F-B5BE0F9F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15677C-4E0D-4AB0-B361-A14090DF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47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1B7B50-8DF4-4947-A421-0CBCFE03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418EA0-0279-4AD3-A540-1D89B84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96B3FA-9965-46D6-A986-4FD80BCC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67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E7223A-CAD3-4215-A24E-84314A22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Send Emails from ChatGPT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3354A8-CF3D-4B5C-86FD-DC11C66B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05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299CC4-5E11-4C4E-A4FB-A0058F09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76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ChatGPT moves beyond drafting toward completing email actions through connected services.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065E90-17C9-421E-A65B-1EC29A1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5EF349-E7F4-46B5-9166-3C3E01FD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295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Tool use closes the gap between advice and execution, saving context switching and manual steps.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867754-CFCE-447B-9291-E2552E83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9CABCD-D6CA-4FDF-BB7A-45B0504E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System view: understand the world → choose a model → act</a:t>
            </a:r>
          </a:p>
        </p:txBody>
      </p:sp>
    </p:spTree>
    <p:extLst>
      <p:ext uri="{BB962C8B-B14F-4D97-AF65-F5344CB8AC3E}">
        <p14:creationId xmlns:p14="http://schemas.microsoft.com/office/powerpoint/2010/main" val="668906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8450BD-C7A0-441E-A073-279EE6A2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65933-732D-4E28-9654-34FAB3BA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2F3AC-7414-4166-9529-BA8F5535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UPDATES 10–12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184A1-77E1-4DF7-9BC8-405A8B6F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AI moves onto the desk, into media production and into family life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DA5A4-1DD3-4BDE-900B-B73F17F3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common theme is proximity: more capability closer to the person and the task.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29701-977F-44DC-9869-603F0C17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177F5-B3E2-4AB1-ACD8-0F39108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610FB-E989-40E7-84EA-43C67A8F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1000125" cy="78105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CA230-55B4-4434-876B-F84F431D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3830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7B015-29FC-4EC5-9A7F-ADAE4216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0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83176-3F29-41F9-88CF-D419F473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1285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LOCAL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COMPUTE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0657D-F449-42B9-BF5E-D9743169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62200"/>
            <a:ext cx="2057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VOICE → LANGUAGE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F87EB-C1D8-470E-99FA-D70D1111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2410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HOME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ROUTINES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9C840-6F72-4F5F-9FCA-81338E53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5ACEB-7A70-4A25-95C7-611963C6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AE1E2-A817-4147-9847-9EF4D05D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5467E-988C-44F0-A1C7-BA055ACE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A431F-9B54-4D56-8702-01FBC86C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01CF1-61B7-4F67-9098-B082D366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3D271-229E-436B-80E0-502D3BAC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384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NVIDIA RTX Spark Superchip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8E45B-3203-49AB-8711-A2C893B9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3D47BC-EC0F-4D26-AAD7-B00ED839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compact high-performance system designed to bring demanding AI workloads closer to individual users.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7AD362-FD06-482C-9718-6D33027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C42E94-049B-4107-8149-9F967469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2952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Local compute can improve privacy, responsiveness and experimentation without depending entirely on cloud APIs.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400D8-6B9E-4921-998F-9BDC5872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194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06434C-A021-4EC6-981E-39D78045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3C8A3-6B67-440D-91A8-5917E7EE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5C9395-DAA0-4DDF-94C8-82E93BEE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1148E-A068-44F6-9146-25321E0B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B7051-FC1B-4456-B34E-2CA76610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76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39C811-CC15-41B6-A566-72D0D637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384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ElevenLabs Dubbing v2 Alpha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74F069-4041-4D12-9660-FE3936D9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14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A6AFCD-CA48-415A-A6F2-8703D2B0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861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An upgraded AI dubbing workflow for translating spoken content while preserving voice and timing.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C2012-56D1-4126-8893-23DBCF4A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005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C6F6E-8BD1-4D95-864D-D9291D66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71975"/>
            <a:ext cx="2952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Creators can distribute videos globally with less manual recording, editing and localization work.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662F31-7690-46F1-AE87-C4EE88A0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194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09C10C-5662-4E00-B072-07F8FEED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051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02F116-21B5-4A69-831E-2F58510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05125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227622-B7D8-4EC8-84DE-CCEF9A04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47EFE8-BA90-4861-BAF7-5746A759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31BCFB-C0C1-4B19-B9AE-DBD8C863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5D73CB-C76F-4FFC-AE11-2AFA3BC7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384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Ollie AI Family Assistant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11808B-B62B-421A-8C96-2CEF5708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14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22961D-5233-4EEF-A5D5-36C3D15F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861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consumer assistant focused on household coordination, reminders and shared family information.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E82F95-F061-4615-8FD5-DE96040D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005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6BAE61-C4A0-4B84-90FF-50319CB2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71975"/>
            <a:ext cx="2952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Vertical assistants can outperform generic chat by understanding recurring roles, schedules and routines.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3464BC-6B4F-4340-9044-CE12DADC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F1F8A3-6EFB-41CF-BA20-8873DB4B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Proximity changes adoption: desk → content → household</a:t>
            </a:r>
          </a:p>
        </p:txBody>
      </p:sp>
    </p:spTree>
    <p:extLst>
      <p:ext uri="{BB962C8B-B14F-4D97-AF65-F5344CB8AC3E}">
        <p14:creationId xmlns:p14="http://schemas.microsoft.com/office/powerpoint/2010/main" val="344266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453E5-1673-4EFE-86CF-AA7157AD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18174-6AE9-4EDD-BDC5-9238EAEB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05FD0-5A7D-4AD2-AE5D-A62E1110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UPDATES 13–15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ED28A-747D-42F9-9691-91A5E632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Ambient agents enter commerce, creativity and software navigation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AB715-90B1-4EDF-BC92-810CC9E7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 is becoming a layer around everyday intent: order something, make something, or complete something.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539B8-3860-44B7-A497-44053504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A7B58-BAD8-49AD-8D97-217C9245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45F2C-7705-4DC3-9ED4-F397C37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3695700" cy="369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1E10D-3FB0-41DE-B688-F39355C6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0987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25BED-3B74-4F63-827C-C24DCAD2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29000"/>
            <a:ext cx="120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INTENT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0BB49-1C1B-459A-B188-6C794D71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87855">
            <a:off x="6076950" y="3143250"/>
            <a:ext cx="363231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C84FD-D56C-4C78-ADAD-3E9778CB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96374">
            <a:off x="6076950" y="3714750"/>
            <a:ext cx="385714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2AB80-24D0-4DB9-8555-0929ED02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5729">
            <a:off x="6076950" y="4286250"/>
            <a:ext cx="368174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F89A1-7619-411E-9341-63B6C5DC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F3AC0-CC39-4647-AC7E-9F9C2F3A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B213F-9683-417F-A89F-858332F8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2AB45-0E16-45D3-9AB3-5D43BC32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D2ACB-6579-4DE1-88A9-8D292532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D7961-FF16-4013-BE15-AFDA72D2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D8F3B-DA9E-4A34-9D8C-043A2375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764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Gopuff x Grok "Go"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FF544-ACA2-48B0-B02A-885C8752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E43A3-6169-4242-97ED-35194FF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conversational path from product discovery to ordering through an AI assistant.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0ECA0-3673-461B-B587-005D42E3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A6BF3-6EB9-494F-8E9C-8F704B8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9527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Commerce becomes intent-driven: users describe a need instead of manually browsing a catalog.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80959-F453-4305-90BF-81F8DA6D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5919A-FEFF-450E-9BE2-585B3A0F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C7939-2961-476E-8752-17E83E54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DBA95-6770-4719-BB98-9F34F9BA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859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5686D8-C14F-40B4-B85D-D4CF67E9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8A02A-0F7E-49B0-B4E1-5E153E6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7908CD-4607-43ED-B980-D0CD60DB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Google Magenta RealTime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79AD9-6FF5-44BB-8C98-A18D7E9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526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66AD50-E92E-473F-8EC6-1B3AC768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Real-time generative music behaves more like an instrument that reacts during performance.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29CA07-E626-4638-85B5-F2C16FF7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6BB9CD-0156-4A49-B5F3-7A9094EA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29527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Low-latency generation enables co-creation, live experimentation and rapid musical ideation.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F342F3-BE2F-406D-8BC1-5A33B498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0E8D59-D228-4A6F-9915-2C6C6B0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67F270-BDF0-42A8-A88F-97716D46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B70130-1FE1-47E3-991F-12CD890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4337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040429-D74D-4926-9A0C-37BB8CAA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830408-7141-4F4C-A027-5CAD1321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5F6067-882C-45BD-B538-07DA8BF4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3385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Microsoft Scout Autopilot Agent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4A32D8-F844-4D78-9462-75E6EB5F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1010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D59087-CB7C-4E92-A6C5-EBB760E1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815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An agent concept that pursues goals across complex interfaces with less step-by-step instruction.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04F30C-3FFB-45E8-95CC-8712E1FE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959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61166F-718F-4159-B709-BB8E81AA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67350"/>
            <a:ext cx="29527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Interface agents can automate software even when a dedicated API or integration is unavailable.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B2CD0B-96BE-41F0-8FD2-E92A9979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333750" cy="1476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FC9C4E-5AA6-48EB-A99E-AC35B340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8003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ONE USER INTENT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THREE ACTION SURFACES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8A6078-6504-46C3-A8D2-5A68B607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Buy • Create • Navigate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028860-BF9F-406A-948E-DF1C3FEF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134FD5-384D-4484-A9FE-EAFABB5C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 useful agent converts intent into a controlled action</a:t>
            </a:r>
          </a:p>
        </p:txBody>
      </p:sp>
    </p:spTree>
    <p:extLst>
      <p:ext uri="{BB962C8B-B14F-4D97-AF65-F5344CB8AC3E}">
        <p14:creationId xmlns:p14="http://schemas.microsoft.com/office/powerpoint/2010/main" val="623022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0E944-A937-4CD2-970A-6C5972C9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C4581-1F3E-494C-B2CC-FC61F01B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87F4A-FFCD-430A-8BD4-2AE70BF9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UPDATES 16–18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8B271-EF04-449C-931F-FFFF8AEE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Agent ecosystems become modular: framework, tools and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643B3-CC89-4428-8582-43E86044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important shift is composability: agents can acquire capabilities and produce structured, editable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BC542-CA57-4D9F-A02C-7F8F61EF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60623-F8EB-4C31-A40B-F67A3FAE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F0080-0B26-4EE8-91AF-68B30B82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57350"/>
            <a:ext cx="1428750" cy="1143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41A63-9019-415B-ABDF-C4D86918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2228850"/>
            <a:ext cx="2162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9EEBC-2710-48CF-AD75-4464E222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57350"/>
            <a:ext cx="1428750" cy="1143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D3574-1B32-4D04-8C21-E1789D3A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2228850"/>
            <a:ext cx="2162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58F9C-7821-431B-9DC1-70EA8779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57350"/>
            <a:ext cx="1428750" cy="1143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BDB07-B937-4218-ABEA-A7C96C31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288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FRAMEWORK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2B041-8B70-4C9C-A21D-55B9ADC7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288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D972F-EC35-43F6-9330-B833863A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288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A8FFE-3122-4055-A747-0764BE7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7E51A-71C7-41B5-B57A-ED4CB452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EAB85-1254-4F3C-A683-8FD4DE64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47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0869E-C129-40AF-A65E-8C82E001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32CB3-8D14-4080-AF0F-9E4B8F9F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0FF77-6F30-4193-AEE2-14B77862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6DF26-C098-4760-9815-E6B502E1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OpenClaw + Microsoft MXC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25D11-2347-4AC0-ABF3-3A7EB51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3511C-2CE7-4343-A5AA-C7AEBC4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An open agent framework connects with a larger enterprise-oriented ecosystem and toolchain.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DEE00-5723-4F6C-B290-4D9B3E04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03421-3102-4BC9-9A1A-FC17BE1D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Open frameworks gain reach when they can use trusted connectors, identity and deployment infrastructure.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3044C3-2FD5-4D44-B6C6-38974A59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FEF02-70CC-40A0-A7A0-F4EAAAEA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WATCH: Compatibility, governance and maintenance ownership.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460757-F4FD-4253-9866-8B428621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1EC6EA-5274-47D6-A0A6-78EE5EDC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7D252-8016-4D21-888D-10A56E7F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47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5720E1-76B1-405D-B633-C458FF01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86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2544A4-F326-4A70-9672-5319A2D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F791A2-E822-4DBD-94DA-5852FD84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14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0979BF-0AF4-484A-BE03-A4051625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76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OpenAI Codex Sites &amp; Plugins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C2F9BB-6145-4B17-AA20-8214BF1F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52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D60A03-52B8-4660-916C-358D3B32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243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Codex expands beyond a single coding surface through web experiences and installable capabilities.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5DE1EE-DB61-492D-9560-08378F7D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3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32DBD9-417F-4291-AE94-79467BC2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01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Plugins let a general coding agent become specialized without permanently loading every tool and instruction.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530FF6-57EA-415E-B2FE-1FA3487E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743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EBE58A-DEC9-4ADA-9106-D2001C14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753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WATCH: Permission scope, provenance and plugin quality.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13404D-1C4D-4C32-9E13-3419E80B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24F433-D421-43F7-B013-57749E27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58F9AF-4515-4C8C-8FBB-5E8691DD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47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DCC8CD-2EE4-4BA4-8E9D-D429E9D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86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B7FCBB-C8BB-4703-BA1E-F6EFD9D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C17757-64B4-4880-A7A0-B4117D9B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42E830-074D-4056-B365-B3CA9900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HeyGen frame.md Video Layouts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F8A401-7A6D-4300-9449-A78C6F6E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6BF9DF-84A0-4FE3-A27A-DED10C82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Video composition is expressed through a structured, editable layout rather than a single opaque generation.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69082C-232B-403D-8E92-DD620F43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3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AB9578-9F29-41E0-B93E-62491189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01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Layout-as-code makes generated video easier to revise, version and integrate into production workflows.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9F1EAB-0AAE-42E2-8DCC-7C2F7C44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43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CF2637-2108-480B-9FDE-E83C4A28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53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WATCH: Template flexibility and export fidelity.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8492D0-8307-4C06-8EC2-F8474B14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13A841-73C8-4BCA-A629-87E15618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Architecture: open core → loaded tools → editable artifact</a:t>
            </a:r>
          </a:p>
        </p:txBody>
      </p:sp>
    </p:spTree>
    <p:extLst>
      <p:ext uri="{BB962C8B-B14F-4D97-AF65-F5344CB8AC3E}">
        <p14:creationId xmlns:p14="http://schemas.microsoft.com/office/powerpoint/2010/main" val="508183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26E142-6C90-447F-A18A-6A933203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53222-6A8A-42E6-9C64-2154C4A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0B932-1C68-400C-98E7-5D4EC39C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UPDATES 19–21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0BA8A-4C89-4386-B725-0E2BC5B4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Generation and research become programmable production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E460-1294-4120-A888-9A309DF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Music, inference and search are no longer isolated apps; they are components inside larger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AF647-2539-4C26-9CF0-9111CF20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5A733-2350-48E4-AF3A-1705CE9B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6710F-50CC-49A5-888D-A3598EF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619625" cy="232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FADD24-192C-425A-A61F-DCB85204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619625" cy="232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91C1C-E72D-4DF7-AC7C-B848EE0A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76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3D18E-8308-494E-ADD6-952C8DFB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4314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071BF-4D78-41EE-B694-630354A1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98D69-AE2C-4FC0-AF9F-9B02A08E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B2820-45F8-438B-9A57-EA7F7CFE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28850"/>
            <a:ext cx="38385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ElevenLabs Music v2 Out Now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31366-139B-46AE-8420-6CD2ADA7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9C2CB-40C8-4671-8CC1-C997E873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23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newer music-generation layer aimed at higher-quality, more controllable production.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74DD9-05C6-4C1C-A499-6891CF8E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660100-6F0C-4D67-A0A0-9E50EC81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4238625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Music generation can support drafts, soundtracks and variations at the speed of an editing workflow.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37028-D78E-4A71-9F2E-E483A3CD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57425"/>
            <a:ext cx="5219700" cy="1762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8EE7C6-D908-47E6-BDB7-D2AB5425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5219700" cy="1762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5889F5-88C2-4656-973A-1A426F19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4DFC9D-0CCB-4A37-A3D0-49AF491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44BBD6-5008-4DC6-B453-05419E74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1A44BE-5635-4285-8FC3-FD5E5082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14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177B44-76DA-4383-AA7D-FDF03CBC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76475"/>
            <a:ext cx="44386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Perplexity Hybrid Inference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9CB21F-6C57-4F16-ACC2-7237A8A7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748876-14CB-4EC0-9F42-1B6F3E2C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48387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Different inference paths can be selected or combined based on the task’s speed and reasoning needs.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FD79C9-EE36-4250-9F5E-DECA91E8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654D5D-FC87-4D49-A256-CA0EE009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48387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Adaptive routing can balance answer quality, latency and cost instead of using the largest model every time.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06B49D-94AE-4F73-B96A-ECC7E0E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5219700" cy="17049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52DB95-F74E-4663-A8E2-66E7136D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219700" cy="17049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D5E2FA-12E2-4A3C-BF2A-37ED9CF6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402073-5AAC-4894-A157-86ED62AE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3862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F17650-F505-4A74-A5A4-17479D68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D03FB3-4D15-47FD-B24D-D0DA957D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54CE7A-D12B-4764-8A76-32279378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29100"/>
            <a:ext cx="44386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Perplexity Search as Code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57CA18-E2B5-4593-891B-9750D1D2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85ACA9-DDDD-404D-8A1E-0F86072B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48387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Search and research capabilities are exposed as programmable building blocks for developers and agents.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F566C1-6DCF-474E-A21D-DCA01923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01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669A0B-2DC9-4D4C-9688-6631F0AC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81625"/>
            <a:ext cx="48387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Research becomes repeatable, composable and easier to integrate into applications or automated workflows.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91CD33-BB30-4A4D-BB74-F8C4BC1F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191F3E-8972-4E8C-924E-34F560D3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Production stack: create assets → route intelligence → retrieve evidence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FFFC25-A45B-444C-A8F6-8CD0DBA4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19250"/>
            <a:ext cx="1476375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CD2357-0D97-444A-BF99-4768E786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13430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CREATE ASSET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59835A-8EA0-4055-9684-3961EC0F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5143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D91392-4612-4E6A-8763-CBB8848F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16192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91B4B3-4AB2-43DE-BB54-ACF4491E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6573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ROUTE INFERENCE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45D30F-8AA7-4250-8AF0-E8505710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66875"/>
            <a:ext cx="5143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5A4906-5B63-4DC2-8C68-455F2AE8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16192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AD803D-848D-40EC-9886-CF83484F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6573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RETRIEVE EVIDENCE</a:t>
            </a:r>
          </a:p>
        </p:txBody>
      </p:sp>
    </p:spTree>
    <p:extLst>
      <p:ext uri="{BB962C8B-B14F-4D97-AF65-F5344CB8AC3E}">
        <p14:creationId xmlns:p14="http://schemas.microsoft.com/office/powerpoint/2010/main" val="27674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96A26-9E0C-4B8E-8F09-87533204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A7571-1F78-4D35-9FE3-1838AE16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6454F-698D-4635-B29B-C11CF0F5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UPDATES 22–24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3786B-FE61-4365-AE8A-F0B3092E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Open models, office copilots and coding agents converge on daily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E293B-8A9C-4551-B5C9-C716B5B6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Different products, same destination: AI becomes part of the normal workflow rather than a separate destination.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91908-E213-4C9F-AD22-60B44B27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9A2F9-C47F-4D4A-B14C-33346D17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8A3F3-2693-453F-B905-75FB0460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09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5DDBD-C24E-4393-9D4E-761C0529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31888">
            <a:off x="2286000" y="2571750"/>
            <a:ext cx="385527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E0BE8-6E14-4009-BA85-71AC8CF4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56515">
            <a:off x="6477000" y="4333875"/>
            <a:ext cx="360348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BF5AB-8E73-4E72-B940-09B0CF88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2381250"/>
            <a:ext cx="723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949DF-3EB6-4CE1-9EA4-1C6C2DBA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24125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C28CC-0A57-4198-97E6-2CD68BA7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C1788-7226-424F-820C-5531B4D6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90875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FA4B4-B6D3-4FA8-AC1F-408A249D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176F7-EBD5-4FF5-ACE7-6172122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FABD6-3DBB-4F49-A695-A395A62E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48B21-111D-4D1B-B82A-4585FF1D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645D6-D813-4F05-B8D9-C1D75F9C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86811-ED13-457B-BA1B-8C7EC579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99603-E4EA-4445-B604-0BE8226D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04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Google Gemma 4 12B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B5E6D-3A96-4C64-819A-F7DE1AC7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23584-AB1A-4BE4-AE18-B8851A62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smaller open model offers a more accessible path to local use, tuning and specialized deployment.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5471C-61C5-4B46-A244-ACFD08C1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7E363-2D98-48AB-B4A3-4D78A335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2952750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Teams gain control over privacy, cost and customization without relying only on closed frontier APIs.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2B684-15C5-4D1E-8A25-8770E9F0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859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98EF5-22F2-40D0-93FF-9BB14994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973A2-B207-470C-8DBC-BE645571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70B6F-7F93-499A-B674-643A6532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0D5C20-4E03-4F29-9B0B-420C7EAB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43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B47A8-9C2B-4C3B-8DB1-1BDB405C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43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18BDA9-67B1-416C-A672-117EB74B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04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Microsoft 365 Copilot Redesign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4F0344-EFC6-44BA-AC5A-7C8CE061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81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AC8146-D14C-4548-B5F4-ECCF2110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52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Microsoft reorganizes productivity surfaces so AI is more central across documents, mail and collaboration.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B91552-AA17-44B1-B5AF-7F4A8E38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67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01E8A4-0B15-4815-A3DE-45D30FF8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38475"/>
            <a:ext cx="2952750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Embedded copilots reduce context switching and can work directly with the files and conversations users already have.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EC0690-5C88-42BB-9F0F-7126B27D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71925"/>
            <a:ext cx="333375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C5AEF7-1007-47BA-AEDD-CAA36875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333375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93010A-F457-4362-925D-39BDAE00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356447-83F1-42C5-932B-63F36173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00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B1692C-5C9D-4633-824A-A9C8D350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29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CB5F34-E304-4FB0-9A26-C011AAD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29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74C654-6D5D-4EC7-9BF0-F2925A65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990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Cursor Auto-review Run Mode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58A35A-2938-4797-8432-73D2BC12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67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D48ECF-8575-46F8-9AC4-31079349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38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coding agent repeatedly reviews and improves its own changes during an execution run.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EF8E5D-36DD-442E-BFC1-08ECB96A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53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DA71C7-77A4-4584-B296-5B87A18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24475"/>
            <a:ext cx="295275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workflow shifts from one-shot code generation toward iterative quality control and validation.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F24737-AC95-4DBD-A31B-59A2A2A7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F6DA82-35E5-4647-84BB-87B8652D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Convergence: deployable model + embedded context + review loop</a:t>
            </a:r>
          </a:p>
        </p:txBody>
      </p:sp>
    </p:spTree>
    <p:extLst>
      <p:ext uri="{BB962C8B-B14F-4D97-AF65-F5344CB8AC3E}">
        <p14:creationId xmlns:p14="http://schemas.microsoft.com/office/powerpoint/2010/main" val="2050351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EE4381-8176-4715-9FF1-0F388EF0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E8137-67E9-467C-A843-B8574709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33E5D-88C0-4218-8787-27E76181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UPDATES 25–27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E9248-A04B-4FF6-BB5E-7F357C59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Open agents become discoverable, installable and more experiential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9C59B-C6A7-4417-AB30-D5F26EBC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open ecosystem is maturing from command-line experiments into accessible product experiences.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C487E-5221-4991-976F-0DCD8F7B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5036A-C217-48B9-8329-32F61DE3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DC4D1-81A5-4C8A-9B04-4C8F2197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286000" cy="271462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7B007-880B-4EC1-8972-E2BCD072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14625"/>
            <a:ext cx="1714500" cy="1285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80B19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5ECA1-AFA3-4EBC-B77A-FE800C45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1333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OPEN AGENT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PORTAL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E61C7-E6CC-4777-B8A3-A0F96694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33375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20EFA-62BB-4611-AE9D-6A165E0A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333375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6E213-9191-4B56-A93D-3AC22E54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EF4A9-C2A0-4089-8809-51CA7DB5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6F69D-D09D-4617-90C5-C86C817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4B77E-4972-4C07-A183-D0FDA37D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EB3BE-F172-47F1-8079-2EBB89F6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288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Hermes Agent Tool Search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26017-4AF1-4170-985A-5426ED9D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DFA90-E79B-4171-88AB-48588C05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An agent discovers and loads relevant tools only when the current task requires them.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BCA4A-3C95-4C20-B2F7-02888178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78515-CB35-4AB1-9AD7-66A6D21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52750" cy="885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On-demand discovery reduces prompt clutter and lets one agent work across a larger capability library.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CDE1D-AA27-476C-94DE-48D1F2DC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33337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1D7E0-721F-4955-B4E9-086B74F3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33337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AB355-E7FC-4733-9BC5-1F0FE510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1F474E-9061-440F-A7A2-9A3B871E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2B2BE2-12BF-4494-A89B-29269DC8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F512A1-9427-449C-933E-A74B6810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584A52-EEFD-4F27-82FF-43CE8510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Hermes Desktop App Launch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99801-F09F-4284-8D53-C9534115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59B55-2763-4DAC-B18A-ABED690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desktop package lowers the setup barrier for using an open agent on a personal computer.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2F7BF5-F041-4A78-8E43-4AA2E9B5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94949E-212D-4C76-A2F0-63F00AF0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Packaging matters because installation friction often blocks non-developers from experimenting with open systems.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1EB8CE-6580-4F56-A37E-1375B83C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47925"/>
            <a:ext cx="3333750" cy="2905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E840F8-F2B6-4B9A-8305-943B0389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3333750" cy="2905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416271-8B68-4968-BA3F-32F6E67E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476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5B1BE-6F0D-40BB-AB96-EFF1078D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060702-024D-4D76-A0EB-CEA4ADB2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05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443466-FD3C-4640-BB81-01A7CEBE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05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C61F8-5124-4DA8-AF1D-8A6F2DE9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66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Microsoft Project Solara Preview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C531E6-6510-4D88-A504-63D532A3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43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125181-4514-4AB2-AD50-C3A0CB1E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14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Microsoft’s agent-first chip-to-cloud platform for new AI device experiences and form factors.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9D21F8-1DBC-4305-9041-31F7E49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29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D23ADD-3008-49E3-A600-6AAB75F1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0047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It explores adaptive interfaces across desk and wearable concepts, with agents replacing traditional app-first interaction.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A817D5-E5E4-495D-9466-B57821D5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3870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5CDDE5-A70B-4D05-860F-CDDE951D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4822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5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WATCH: Early platform and reference-device concepts; availability will depend on ecosystem partners.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1B42FD-1635-480B-AB29-8B79E83E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50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8EA9FC-E002-4936-99B4-DFFDDFCD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INSTALL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651541-899C-4A35-9F9E-9CAFDBE1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E3371E-00E1-49AE-90D9-B21592C8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A661E7-7239-497B-91D5-0C466DF1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Maturity path: discover tools → install easily → use naturally</a:t>
            </a:r>
          </a:p>
        </p:txBody>
      </p:sp>
    </p:spTree>
    <p:extLst>
      <p:ext uri="{BB962C8B-B14F-4D97-AF65-F5344CB8AC3E}">
        <p14:creationId xmlns:p14="http://schemas.microsoft.com/office/powerpoint/2010/main" val="10602983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30470-C8AF-4B7A-9901-1F2DA0B0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6A397-4A4E-4D72-A41C-90FEE252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461EB-1FCA-4D87-813F-222B0708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UPDATE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F99A3-2F96-44DC-9675-55B10332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Turn the Odysseus installation tutorial into a learning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92171-A197-4817-B756-E7858AE7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best response to an AI announcement is a small, controlled experiment—not passive consumption.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AC567-10F1-404B-A5EC-88FAB9CB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044B0-5749-4766-9430-4240CA33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EAD39-1128-4F2E-8EED-57E1ADEA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930E8-A157-448C-84D4-25E4709E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DA811-D2CC-49C4-BE9E-4894CE53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1925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ODYSSEUS INSTALLATION TUTORIAL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DBB60-1384-46A7-8410-49B420A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334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 practical walkthrough reduces setup friction and lets learners inspect how an open personal assistant is configured, connected and run.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5C6DD6-216A-4946-B918-568BBCB7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33400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A92111-E42E-405D-A20B-4900D5BC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5000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Learning goal: understand the system, not merely complete the installation.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8C074A-608E-4979-8899-15CBC93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3E2FA8-258D-4569-BBD3-F756C9B7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Safety order: isolate → inspect → test → evaluate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1C9B1D-28B3-40AF-BF06-6C1987AF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4000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B3A3E1-DBEB-421E-8362-BA06221E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TRY → OBSERVE → DECIDE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041387-734B-4EEC-ACC3-16DD6090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342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Use the tutorial to understand permissions, tool access, data flow and operational effort.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17986B-582D-4B71-8EA5-63BC2FD8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1472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E5E9A5-977D-4B3F-922B-F0156140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3E9808-C048-4869-A174-C8344943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6B365D-B29D-411C-A0AD-D29DAFE2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B6F9BD-6228-4029-837D-7A3E0E1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1CA619-8206-4479-92ED-FC94FE31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9092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ISOLATE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934262-4F60-48AE-9D43-4D550CCC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Use a test account, non-sensitive data and a reversible environment.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98F051-B91C-489F-A8E6-813D634C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55964A-2E31-4DCC-81B6-1BA06AD2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014B96-3E48-4CDC-8F6A-973B6528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8EF4EE-F03E-4D14-9EE4-3498AAFB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A74FEB-70E5-4409-9454-018B12E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09A40A-C138-4DE3-AF97-A28837C5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9092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FB2630-E686-4FFB-AF25-B9AF378D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0525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Review model source, permissions, storage, connected tools and network access.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DE2421-5F5A-449A-B1C4-F37901E5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C40E5-8EE7-4FAC-98DA-BC3C341A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F753DF-D82C-42CE-8A85-BC48B1E1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3BD443-EA73-4597-9B7A-F22B0C0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22518A-F3E8-4620-84F1-BF30172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D74476-2C70-4884-BA7C-CBCB9C2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96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C5A51F-128C-4478-BB80-E375706F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Give it one bounded task with a clear expected result and failure boundary.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9E682D-4211-4B48-9184-754161AA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4347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011D018-922C-4592-898C-6F55F8FD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A76726F-1DCD-4ADD-A797-AB22BDB9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E9681D7-8A99-47F6-9F6E-27B76DBD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842824A-A9DC-451B-BFBA-50887D91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C5A3930-E821-4A56-A8B6-77D4B614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196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A631A0-7E92-4466-8D99-AA23AAD6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3400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Record usefulness, errors, cost, privacy impact and ongoing maintenance effort.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4DCEDDE-4EFF-41E8-BC4A-04AAA3FF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3340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CC052B8-844A-4967-A73C-FE01E777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Learning goal: understand the system, not merely complete the installation.</a:t>
            </a:r>
          </a:p>
        </p:txBody>
      </p:sp>
    </p:spTree>
    <p:extLst>
      <p:ext uri="{BB962C8B-B14F-4D97-AF65-F5344CB8AC3E}">
        <p14:creationId xmlns:p14="http://schemas.microsoft.com/office/powerpoint/2010/main" val="17344499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A2FC3-64B1-4BE7-ACE4-F3986EFF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D482C-9669-4522-BBE8-BD045A9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CB5EC-B237-4633-83B9-2C67BAEE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LEARNING 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0F64F-DDF7-48B6-A11C-794A335E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Do not memorize 28 products—learn the five durable shifts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06AD1-AB55-4CF9-A576-7B44D577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Product names will change. These capabilities and evaluation habits are the reusable knowledge.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5FC9A-7680-4867-8F26-A58345E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AE888-CDCB-4145-99F7-EA9B565C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85143-E05F-4592-BAA1-49AE64BC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3FE82-05E9-4384-9CF6-CA7448AB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432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514C2-AF3C-4F1E-9B83-B5B7C368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76575"/>
            <a:ext cx="1047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YOUR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AI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4B00A-40E4-4749-8437-4812A840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54B33-1321-42BB-A975-419F56BC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DED93-D97D-463B-A4B1-0DF54B90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1  PERSISTENCE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BC61C-72AD-43D4-AD1A-AE16898D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Memory and context make assistance cumulative.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A1867-254F-45FC-89B8-A3504C93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D93E0-DCFF-437C-B90F-B1BE666E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D4C26-8138-4B7D-AD06-0B454873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2 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FB30A-74F5-470B-B583-F23D86BB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Agents connect reasoning to real tools and outcomes.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D896C-9560-41F5-B01F-B4F099E3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DA4DE-00E3-4DD7-B3C7-7FD2731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29C89-5A54-4A8C-B990-84D6FD0B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3  MULTIMODALITY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4AF71-702F-4BC3-B86D-7DB20F19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Text, voice, images, music and physical-world models converge.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92CCE-9929-4830-8370-13DC8A45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2431F-CFDA-4368-8E4E-95BA284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C61F8-0F3C-415C-B5C9-0D8AC976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4  OPEN ECOSYSTEMS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09591-A227-4EE2-9BF1-084106E7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625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Local models, plugins and tool search increase choice.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37446-D502-4EB3-A245-C9B24872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68E34-40DE-4D1D-B1DA-8BA77EEA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51253-C593-4936-8E33-2112751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387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5  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417ECF-615E-4D3E-8D6E-990FE9DF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5340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Privacy, reliability, cost and control decide real value.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F407E-FFAF-4481-9000-12897406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61654">
            <a:off x="3905250" y="2238375"/>
            <a:ext cx="132411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56214-A6B1-4C48-A6BB-BB1052D4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38346">
            <a:off x="8286750" y="2238375"/>
            <a:ext cx="132411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C244B5-F18E-49A6-A380-E3BC60D8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9469">
            <a:off x="3857625" y="4857750"/>
            <a:ext cx="133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93405B-2A1E-4384-ABBD-7DB7BFB9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638358">
            <a:off x="8286750" y="4857750"/>
            <a:ext cx="12955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043CDE-53FE-41C6-B2D9-45B7441E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177083">
            <a:off x="6048375" y="5095875"/>
            <a:ext cx="73497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18F0D4-7C74-445F-8BFF-115C6188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37B69C-814E-4F9A-ACC2-8F7CCD6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Next practice: pick one workflow, define success, run a bounded test</a:t>
            </a:r>
          </a:p>
        </p:txBody>
      </p:sp>
    </p:spTree>
    <p:extLst>
      <p:ext uri="{BB962C8B-B14F-4D97-AF65-F5344CB8AC3E}">
        <p14:creationId xmlns:p14="http://schemas.microsoft.com/office/powerpoint/2010/main" val="463775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2026-06-10T14:14:42.6620000Z</dcterms:created>
  <dcterms:modified xsi:type="dcterms:W3CDTF">2026-06-10T14:14:42.6630000Z</dcterms:modified>
</coreProperties>
</file>